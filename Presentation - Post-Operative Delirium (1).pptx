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3.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8288000" cy="10287000"/>
  <p:notesSz cx="6858000" cy="9144000"/>
  <p:embeddedFontLst>
    <p:embeddedFont>
      <p:font typeface="Libra Sans Italics" panose="020B0604020202090204"/>
      <p:italic r:id="rId21"/>
    </p:embeddedFont>
    <p:embeddedFont>
      <p:font typeface="Be Vietnam Ultra-Bold" panose="00000900000000000000"/>
      <p:bold r:id="rId22"/>
    </p:embeddedFont>
    <p:embeddedFont>
      <p:font typeface="Be Vietnam" panose="00000500000000000000"/>
      <p:regular r:id="rId23"/>
    </p:embeddedFont>
    <p:embeddedFont>
      <p:font typeface="SK Concretica"/>
      <p:regular r:id="rId24"/>
    </p:embeddedFont>
    <p:embeddedFont>
      <p:font typeface="Calibri" panose="020F050202020403020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grpSp>
        <p:nvGrpSpPr>
          <p:cNvPr id="2" name="Group 2"/>
          <p:cNvGrpSpPr/>
          <p:nvPr/>
        </p:nvGrpSpPr>
        <p:grpSpPr>
          <a:xfrm rot="0">
            <a:off x="10429875" y="666750"/>
            <a:ext cx="7191375" cy="8953500"/>
            <a:chOff x="0" y="0"/>
            <a:chExt cx="1274296" cy="1586541"/>
          </a:xfrm>
        </p:grpSpPr>
        <p:sp>
          <p:nvSpPr>
            <p:cNvPr id="3" name="Freeform 3"/>
            <p:cNvSpPr/>
            <p:nvPr/>
          </p:nvSpPr>
          <p:spPr>
            <a:xfrm>
              <a:off x="0" y="0"/>
              <a:ext cx="1274296" cy="1586541"/>
            </a:xfrm>
            <a:custGeom>
              <a:avLst/>
              <a:gdLst/>
              <a:ahLst/>
              <a:cxnLst/>
              <a:rect l="l" t="t" r="r" b="b"/>
              <a:pathLst>
                <a:path w="1274296" h="1586541">
                  <a:moveTo>
                    <a:pt x="29067" y="0"/>
                  </a:moveTo>
                  <a:lnTo>
                    <a:pt x="1245229" y="0"/>
                  </a:lnTo>
                  <a:cubicBezTo>
                    <a:pt x="1261283" y="0"/>
                    <a:pt x="1274296" y="13014"/>
                    <a:pt x="1274296" y="29067"/>
                  </a:cubicBezTo>
                  <a:lnTo>
                    <a:pt x="1274296" y="1557474"/>
                  </a:lnTo>
                  <a:cubicBezTo>
                    <a:pt x="1274296" y="1565183"/>
                    <a:pt x="1271234" y="1572576"/>
                    <a:pt x="1265783" y="1578028"/>
                  </a:cubicBezTo>
                  <a:cubicBezTo>
                    <a:pt x="1260332" y="1583479"/>
                    <a:pt x="1252938" y="1586541"/>
                    <a:pt x="1245229" y="1586541"/>
                  </a:cubicBezTo>
                  <a:lnTo>
                    <a:pt x="29067" y="1586541"/>
                  </a:lnTo>
                  <a:cubicBezTo>
                    <a:pt x="21358" y="1586541"/>
                    <a:pt x="13965" y="1583479"/>
                    <a:pt x="8514" y="1578028"/>
                  </a:cubicBezTo>
                  <a:cubicBezTo>
                    <a:pt x="3062" y="1572576"/>
                    <a:pt x="0" y="1565183"/>
                    <a:pt x="0" y="1557474"/>
                  </a:cubicBezTo>
                  <a:lnTo>
                    <a:pt x="0" y="29067"/>
                  </a:lnTo>
                  <a:cubicBezTo>
                    <a:pt x="0" y="21358"/>
                    <a:pt x="3062" y="13965"/>
                    <a:pt x="8514" y="8514"/>
                  </a:cubicBezTo>
                  <a:cubicBezTo>
                    <a:pt x="13965" y="3062"/>
                    <a:pt x="21358" y="0"/>
                    <a:pt x="29067" y="0"/>
                  </a:cubicBezTo>
                  <a:close/>
                </a:path>
              </a:pathLst>
            </a:custGeom>
            <a:blipFill>
              <a:blip r:embed="rId1"/>
              <a:stretch>
                <a:fillRect t="-199" b="-199"/>
              </a:stretch>
            </a:blipFill>
          </p:spPr>
        </p:sp>
      </p:grpSp>
      <p:sp>
        <p:nvSpPr>
          <p:cNvPr id="4" name="TextBox 4"/>
          <p:cNvSpPr txBox="1"/>
          <p:nvPr/>
        </p:nvSpPr>
        <p:spPr>
          <a:xfrm>
            <a:off x="666750" y="6838315"/>
            <a:ext cx="8324850" cy="2800350"/>
          </a:xfrm>
          <a:prstGeom prst="rect">
            <a:avLst/>
          </a:prstGeom>
        </p:spPr>
        <p:txBody>
          <a:bodyPr lIns="0" tIns="0" rIns="0" bIns="0" rtlCol="0" anchor="t">
            <a:spAutoFit/>
          </a:bodyPr>
          <a:lstStyle/>
          <a:p>
            <a:pPr marL="0" lvl="0" indent="0" algn="ctr">
              <a:lnSpc>
                <a:spcPts val="3640"/>
              </a:lnSpc>
              <a:spcBef>
                <a:spcPct val="0"/>
              </a:spcBef>
            </a:pPr>
            <a:r>
              <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PRESENTED BY</a:t>
            </a:r>
            <a:endPar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endParaRPr>
          </a:p>
          <a:p>
            <a:pPr marL="0" lvl="0" indent="0" algn="ctr">
              <a:lnSpc>
                <a:spcPts val="3640"/>
              </a:lnSpc>
              <a:spcBef>
                <a:spcPct val="0"/>
              </a:spcBef>
            </a:pPr>
          </a:p>
          <a:p>
            <a:pPr marL="0" lvl="0" indent="0" algn="ctr">
              <a:lnSpc>
                <a:spcPts val="3640"/>
              </a:lnSpc>
              <a:spcBef>
                <a:spcPct val="0"/>
              </a:spcBef>
            </a:pPr>
            <a:r>
              <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SRINIVAS REDDY PITTU - 700777009</a:t>
            </a:r>
            <a:endPar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endParaRPr>
          </a:p>
          <a:p>
            <a:pPr marL="0" lvl="0" indent="0" algn="ctr">
              <a:lnSpc>
                <a:spcPts val="3640"/>
              </a:lnSpc>
              <a:spcBef>
                <a:spcPct val="0"/>
              </a:spcBef>
            </a:pPr>
            <a:r>
              <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SAI KUMAR BEESA - </a:t>
            </a:r>
            <a:r>
              <a:rPr lang="en-IN" alt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700773299</a:t>
            </a:r>
            <a:endPar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endParaRPr>
          </a:p>
          <a:p>
            <a:pPr marL="0" lvl="0" indent="0" algn="ctr">
              <a:lnSpc>
                <a:spcPts val="3640"/>
              </a:lnSpc>
              <a:spcBef>
                <a:spcPct val="0"/>
              </a:spcBef>
            </a:pPr>
            <a:r>
              <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PRANEETH TEJA JILAKAPALLY - </a:t>
            </a:r>
            <a:r>
              <a:rPr lang="en-IN" alt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700781935</a:t>
            </a:r>
            <a:endPar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endParaRPr>
          </a:p>
          <a:p>
            <a:pPr marL="0" lvl="0" indent="0" algn="ctr">
              <a:lnSpc>
                <a:spcPts val="3640"/>
              </a:lnSpc>
              <a:spcBef>
                <a:spcPct val="0"/>
              </a:spcBef>
            </a:pPr>
            <a:r>
              <a:rPr 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SRAVYA MENDEM - </a:t>
            </a:r>
            <a:r>
              <a:rPr lang="en-IN" alt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rPr>
              <a:t>700765926</a:t>
            </a:r>
            <a:endParaRPr lang="en-IN" altLang="en-US" sz="2600" i="1" spc="52">
              <a:solidFill>
                <a:srgbClr val="E6F0F3"/>
              </a:solidFill>
              <a:latin typeface="Libra Sans Italics" panose="020B0604020202090204"/>
              <a:ea typeface="Libra Sans Italics" panose="020B0604020202090204"/>
              <a:cs typeface="Libra Sans Italics" panose="020B0604020202090204"/>
              <a:sym typeface="Libra Sans Italics" panose="020B0604020202090204"/>
            </a:endParaRPr>
          </a:p>
        </p:txBody>
      </p:sp>
      <p:sp>
        <p:nvSpPr>
          <p:cNvPr id="5" name="TextBox 5"/>
          <p:cNvSpPr txBox="1"/>
          <p:nvPr/>
        </p:nvSpPr>
        <p:spPr>
          <a:xfrm>
            <a:off x="365009" y="2085352"/>
            <a:ext cx="9717830" cy="3965853"/>
          </a:xfrm>
          <a:prstGeom prst="rect">
            <a:avLst/>
          </a:prstGeom>
        </p:spPr>
        <p:txBody>
          <a:bodyPr lIns="0" tIns="0" rIns="0" bIns="0" rtlCol="0" anchor="t">
            <a:spAutoFit/>
          </a:bodyPr>
          <a:lstStyle/>
          <a:p>
            <a:pPr marL="0" lvl="0" indent="0" algn="ctr">
              <a:lnSpc>
                <a:spcPts val="7720"/>
              </a:lnSpc>
            </a:pPr>
            <a:r>
              <a:rPr lang="en-US" sz="7720" b="1">
                <a:solidFill>
                  <a:srgbClr val="E6F0F3"/>
                </a:solidFill>
                <a:latin typeface="Roca Two Bold" panose="00000800000000000000"/>
                <a:ea typeface="Roca Two Bold" panose="00000800000000000000"/>
                <a:cs typeface="Roca Two Bold" panose="00000800000000000000"/>
                <a:sym typeface="Roca Two Bold" panose="00000800000000000000"/>
              </a:rPr>
              <a:t>Predicting </a:t>
            </a:r>
            <a:r>
              <a:rPr lang="en-US" sz="7720" b="1">
                <a:solidFill>
                  <a:srgbClr val="E6F0F3"/>
                </a:solidFill>
                <a:latin typeface="Roca Two Bold" panose="00000800000000000000"/>
                <a:ea typeface="Roca Two Bold" panose="00000800000000000000"/>
                <a:cs typeface="Roca Two Bold" panose="00000800000000000000"/>
                <a:sym typeface="Roca Two Bold" panose="00000800000000000000"/>
              </a:rPr>
              <a:t>Post-Operative Delirium Using Machine Learning</a:t>
            </a:r>
            <a:endParaRPr lang="en-US" sz="7720" b="1">
              <a:solidFill>
                <a:srgbClr val="E6F0F3"/>
              </a:solidFill>
              <a:latin typeface="Roca Two Bold" panose="00000800000000000000"/>
              <a:ea typeface="Roca Two Bold" panose="00000800000000000000"/>
              <a:cs typeface="Roca Two Bold" panose="00000800000000000000"/>
              <a:sym typeface="Roca Two Bold" panose="000008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7896"/>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790793" y="4068537"/>
            <a:ext cx="17172623" cy="3189605"/>
          </a:xfrm>
          <a:prstGeom prst="rect">
            <a:avLst/>
          </a:prstGeom>
        </p:spPr>
        <p:txBody>
          <a:bodyPr lIns="0" tIns="0" rIns="0" bIns="0" rtlCol="0" anchor="t">
            <a:spAutoFit/>
          </a:bodyPr>
          <a:lstStyle/>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Delirium is an acute, fluctuating disturbance of attention and cognition that often occurs after surgery or critical illness.</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It is especially common in older adults with hip fractures and major surgery.</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Consequences include:</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a:t>
            </a:r>
            <a:r>
              <a:rPr lang="en-US" sz="2300" spc="23">
                <a:solidFill>
                  <a:srgbClr val="E6F0F3"/>
                </a:solidFill>
                <a:latin typeface="Roca Two" panose="00000500000000000000"/>
                <a:ea typeface="Roca Two" panose="00000500000000000000"/>
                <a:cs typeface="Roca Two" panose="00000500000000000000"/>
                <a:sym typeface="Roca Two" panose="00000500000000000000"/>
              </a:rPr>
              <a:t>Longer hospital length of stay.</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a:t>
            </a:r>
            <a:r>
              <a:rPr lang="en-US" sz="2300" spc="23">
                <a:solidFill>
                  <a:srgbClr val="E6F0F3"/>
                </a:solidFill>
                <a:latin typeface="Roca Two" panose="00000500000000000000"/>
                <a:ea typeface="Roca Two" panose="00000500000000000000"/>
                <a:cs typeface="Roca Two" panose="00000500000000000000"/>
                <a:sym typeface="Roca Two" panose="00000500000000000000"/>
              </a:rPr>
              <a:t>Higher risk of falls, complications, and institutionalization.</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a:t>
            </a:r>
            <a:r>
              <a:rPr lang="en-US" sz="2300" spc="23">
                <a:solidFill>
                  <a:srgbClr val="E6F0F3"/>
                </a:solidFill>
                <a:latin typeface="Roca Two" panose="00000500000000000000"/>
                <a:ea typeface="Roca Two" panose="00000500000000000000"/>
                <a:cs typeface="Roca Two" panose="00000500000000000000"/>
                <a:sym typeface="Roca Two" panose="00000500000000000000"/>
              </a:rPr>
              <a:t>Increased mortality and long-term cognitive decline.</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Because delirium is partly preventable, early identification of high-risk patients is clinically very important.</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spcBef>
                <a:spcPct val="0"/>
              </a:spcBef>
            </a:pPr>
          </a:p>
        </p:txBody>
      </p:sp>
      <p:grpSp>
        <p:nvGrpSpPr>
          <p:cNvPr id="5" name="Group 5"/>
          <p:cNvGrpSpPr/>
          <p:nvPr/>
        </p:nvGrpSpPr>
        <p:grpSpPr>
          <a:xfrm rot="0">
            <a:off x="790793" y="666750"/>
            <a:ext cx="16808249" cy="5020402"/>
            <a:chOff x="0" y="0"/>
            <a:chExt cx="22410999" cy="6693870"/>
          </a:xfrm>
        </p:grpSpPr>
        <p:sp>
          <p:nvSpPr>
            <p:cNvPr id="6" name="TextBox 6"/>
            <p:cNvSpPr txBox="1"/>
            <p:nvPr/>
          </p:nvSpPr>
          <p:spPr>
            <a:xfrm>
              <a:off x="0" y="171450"/>
              <a:ext cx="22410999" cy="2986616"/>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What is </a:t>
              </a:r>
              <a:r>
                <a:rPr lang="en-US" sz="8500">
                  <a:solidFill>
                    <a:srgbClr val="E6F0F3"/>
                  </a:solidFill>
                  <a:latin typeface="Roca Two" panose="00000500000000000000"/>
                  <a:ea typeface="Roca Two" panose="00000500000000000000"/>
                  <a:cs typeface="Roca Two" panose="00000500000000000000"/>
                  <a:sym typeface="Roca Two" panose="00000500000000000000"/>
                </a:rPr>
                <a:t>Post-Operative Delirium?</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7" name="TextBox 7"/>
            <p:cNvSpPr txBox="1"/>
            <p:nvPr/>
          </p:nvSpPr>
          <p:spPr>
            <a:xfrm>
              <a:off x="4453636" y="6413210"/>
              <a:ext cx="8590910" cy="280659"/>
            </a:xfrm>
            <a:prstGeom prst="rect">
              <a:avLst/>
            </a:prstGeom>
          </p:spPr>
          <p:txBody>
            <a:bodyPr lIns="0" tIns="0" rIns="0" bIns="0" rtlCol="0" anchor="t">
              <a:spAutoFit/>
            </a:bodyPr>
            <a:lstStyle/>
            <a:p>
              <a:pPr marL="0" lvl="0" indent="0" algn="l">
                <a:lnSpc>
                  <a:spcPts val="1745"/>
                </a:lnSpc>
                <a:spcBef>
                  <a:spcPct val="0"/>
                </a:spcBef>
              </a:p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6B2B2"/>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750" y="838200"/>
            <a:ext cx="16592550" cy="1120774"/>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Problem S</a:t>
            </a:r>
            <a:r>
              <a:rPr lang="en-US" sz="8500">
                <a:solidFill>
                  <a:srgbClr val="E6F0F3"/>
                </a:solidFill>
                <a:latin typeface="Roca Two" panose="00000500000000000000"/>
                <a:ea typeface="Roca Two" panose="00000500000000000000"/>
                <a:cs typeface="Roca Two" panose="00000500000000000000"/>
                <a:sym typeface="Roca Two" panose="00000500000000000000"/>
              </a:rPr>
              <a:t>tatement &amp; Motivation</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5" name="TextBox 5"/>
          <p:cNvSpPr txBox="1"/>
          <p:nvPr/>
        </p:nvSpPr>
        <p:spPr>
          <a:xfrm>
            <a:off x="666750" y="2924810"/>
            <a:ext cx="17250252" cy="4389755"/>
          </a:xfrm>
          <a:prstGeom prst="rect">
            <a:avLst/>
          </a:prstGeom>
        </p:spPr>
        <p:txBody>
          <a:bodyPr lIns="0" tIns="0" rIns="0" bIns="0" rtlCol="0" anchor="t">
            <a:spAutoFit/>
          </a:bodyPr>
          <a:lstStyle/>
          <a:p>
            <a:pPr marL="496570" lvl="1" indent="-248285" algn="l">
              <a:lnSpc>
                <a:spcPts val="3220"/>
              </a:lnSpc>
              <a:buFont typeface="Arial" panose="020B0604020202020204"/>
              <a:buChar char="•"/>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Current delirium risk assessment relies on:</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               </a:t>
            </a:r>
            <a:r>
              <a:rPr lang="en-US" sz="2300" spc="23">
                <a:solidFill>
                  <a:srgbClr val="FFFFFF"/>
                </a:solidFill>
                <a:latin typeface="Roca Two" panose="00000500000000000000"/>
                <a:ea typeface="Roca Two" panose="00000500000000000000"/>
                <a:cs typeface="Roca Two" panose="00000500000000000000"/>
                <a:sym typeface="Roca Two" panose="00000500000000000000"/>
              </a:rPr>
              <a:t>Manual scoring tools</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               </a:t>
            </a:r>
            <a:r>
              <a:rPr lang="en-US" sz="2300" spc="23">
                <a:solidFill>
                  <a:srgbClr val="FFFFFF"/>
                </a:solidFill>
                <a:latin typeface="Roca Two" panose="00000500000000000000"/>
                <a:ea typeface="Roca Two" panose="00000500000000000000"/>
                <a:cs typeface="Roca Two" panose="00000500000000000000"/>
                <a:sym typeface="Roca Two" panose="00000500000000000000"/>
              </a:rPr>
              <a:t>Clinician experience and subjective judgement</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These approaches can be:</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               </a:t>
            </a:r>
            <a:r>
              <a:rPr lang="en-US" sz="2300" spc="23">
                <a:solidFill>
                  <a:srgbClr val="FFFFFF"/>
                </a:solidFill>
                <a:latin typeface="Roca Two" panose="00000500000000000000"/>
                <a:ea typeface="Roca Two" panose="00000500000000000000"/>
                <a:cs typeface="Roca Two" panose="00000500000000000000"/>
                <a:sym typeface="Roca Two" panose="00000500000000000000"/>
              </a:rPr>
              <a:t>Time-consuming in busy surgical / ICU settings</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               </a:t>
            </a:r>
            <a:r>
              <a:rPr lang="en-US" sz="2300" spc="23">
                <a:solidFill>
                  <a:srgbClr val="FFFFFF"/>
                </a:solidFill>
                <a:latin typeface="Roca Two" panose="00000500000000000000"/>
                <a:ea typeface="Roca Two" panose="00000500000000000000"/>
                <a:cs typeface="Roca Two" panose="00000500000000000000"/>
                <a:sym typeface="Roca Two" panose="00000500000000000000"/>
              </a:rPr>
              <a:t>Inconsistent between clinicians</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Hospitals already collect rich peri-operative data in their electronic health records.</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Key question:</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               </a:t>
            </a:r>
            <a:r>
              <a:rPr lang="en-US" sz="2300" spc="23">
                <a:solidFill>
                  <a:srgbClr val="000000"/>
                </a:solidFill>
                <a:latin typeface="Roca Two" panose="00000500000000000000"/>
                <a:ea typeface="Roca Two" panose="00000500000000000000"/>
                <a:cs typeface="Roca Two" panose="00000500000000000000"/>
                <a:sym typeface="Roca Two" panose="00000500000000000000"/>
              </a:rPr>
              <a:t>Can classical machine learning predict post-operative delirium risk using routinely available clinical features?</a:t>
            </a:r>
            <a:endParaRPr lang="en-US" sz="2300" spc="23">
              <a:solidFill>
                <a:srgbClr val="000000"/>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FFFFFF"/>
                </a:solidFill>
                <a:latin typeface="Roca Two" panose="00000500000000000000"/>
                <a:ea typeface="Roca Two" panose="00000500000000000000"/>
                <a:cs typeface="Roca Two" panose="00000500000000000000"/>
                <a:sym typeface="Roca Two" panose="00000500000000000000"/>
              </a:rPr>
              <a:t>Goal: build an interpretable ML workflow that highlights key risk factors and gives a Low vs High risk flag for each patient.</a:t>
            </a:r>
            <a:endParaRPr lang="en-US" sz="2300" spc="23">
              <a:solidFill>
                <a:srgbClr val="FFFFFF"/>
              </a:solidFill>
              <a:latin typeface="Roca Two" panose="00000500000000000000"/>
              <a:ea typeface="Roca Two" panose="00000500000000000000"/>
              <a:cs typeface="Roca Two" panose="00000500000000000000"/>
              <a:sym typeface="Roca Two" panose="00000500000000000000"/>
            </a:endParaRPr>
          </a:p>
          <a:p>
            <a:pPr algn="l">
              <a:lnSpc>
                <a:spcPts val="3220"/>
              </a:lnSpc>
              <a:spcBef>
                <a:spcPct val="0"/>
              </a:spcBef>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666750" y="666750"/>
            <a:ext cx="12736033" cy="1790700"/>
            <a:chOff x="0" y="0"/>
            <a:chExt cx="16981378" cy="2387600"/>
          </a:xfrm>
        </p:grpSpPr>
        <p:sp>
          <p:nvSpPr>
            <p:cNvPr id="5" name="TextBox 5"/>
            <p:cNvSpPr txBox="1"/>
            <p:nvPr/>
          </p:nvSpPr>
          <p:spPr>
            <a:xfrm>
              <a:off x="0" y="171450"/>
              <a:ext cx="16981378" cy="1551516"/>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Dataset Overview</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6" name="TextBox 6"/>
            <p:cNvSpPr txBox="1"/>
            <p:nvPr/>
          </p:nvSpPr>
          <p:spPr>
            <a:xfrm>
              <a:off x="0" y="1925320"/>
              <a:ext cx="13423900" cy="462280"/>
            </a:xfrm>
            <a:prstGeom prst="rect">
              <a:avLst/>
            </a:prstGeom>
          </p:spPr>
          <p:txBody>
            <a:bodyPr lIns="0" tIns="0" rIns="0" bIns="0" rtlCol="0" anchor="t">
              <a:spAutoFit/>
            </a:bodyPr>
            <a:lstStyle/>
            <a:p>
              <a:pPr marL="0" lvl="0" indent="0" algn="l">
                <a:lnSpc>
                  <a:spcPts val="2940"/>
                </a:lnSpc>
                <a:spcBef>
                  <a:spcPct val="0"/>
                </a:spcBef>
              </a:pPr>
            </a:p>
          </p:txBody>
        </p:sp>
      </p:grpSp>
      <p:sp>
        <p:nvSpPr>
          <p:cNvPr id="7" name="TextBox 7"/>
          <p:cNvSpPr txBox="1"/>
          <p:nvPr/>
        </p:nvSpPr>
        <p:spPr>
          <a:xfrm>
            <a:off x="1028700" y="2724785"/>
            <a:ext cx="12705515" cy="4789805"/>
          </a:xfrm>
          <a:prstGeom prst="rect">
            <a:avLst/>
          </a:prstGeom>
        </p:spPr>
        <p:txBody>
          <a:bodyPr lIns="0" tIns="0" rIns="0" bIns="0" rtlCol="0" anchor="t">
            <a:spAutoFit/>
          </a:bodyPr>
          <a:lstStyle/>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Anonymized clinical dataset of elderly surgical / hip-fracture patients.</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Rows: each row represents one patient encounter.</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Features (examples):</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a:t>
            </a:r>
            <a:r>
              <a:rPr lang="en-US" sz="2300" spc="23">
                <a:solidFill>
                  <a:srgbClr val="E6F0F3"/>
                </a:solidFill>
                <a:latin typeface="Roca Two" panose="00000500000000000000"/>
                <a:ea typeface="Roca Two" panose="00000500000000000000"/>
                <a:cs typeface="Roca Two" panose="00000500000000000000"/>
                <a:sym typeface="Roca Two" panose="00000500000000000000"/>
              </a:rPr>
              <a:t>Age</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a:t>
            </a:r>
            <a:r>
              <a:rPr lang="en-US" sz="2300" spc="23">
                <a:solidFill>
                  <a:srgbClr val="E6F0F3"/>
                </a:solidFill>
                <a:latin typeface="Roca Two" panose="00000500000000000000"/>
                <a:ea typeface="Roca Two" panose="00000500000000000000"/>
                <a:cs typeface="Roca Two" panose="00000500000000000000"/>
                <a:sym typeface="Roca Two" panose="00000500000000000000"/>
              </a:rPr>
              <a:t>Frailty Index</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a:t>
            </a:r>
            <a:r>
              <a:rPr lang="en-US" sz="2300" spc="23">
                <a:solidFill>
                  <a:srgbClr val="E6F0F3"/>
                </a:solidFill>
                <a:latin typeface="Roca Two" panose="00000500000000000000"/>
                <a:ea typeface="Roca Two" panose="00000500000000000000"/>
                <a:cs typeface="Roca Two" panose="00000500000000000000"/>
                <a:sym typeface="Roca Two" panose="00000500000000000000"/>
              </a:rPr>
              <a:t>Lab values: </a:t>
            </a:r>
            <a:r>
              <a:rPr lang="en-US" sz="2300" spc="23">
                <a:solidFill>
                  <a:srgbClr val="E6F0F3"/>
                </a:solidFill>
                <a:latin typeface="Roca Two" panose="00000500000000000000"/>
                <a:ea typeface="Roca Two" panose="00000500000000000000"/>
                <a:cs typeface="Roca Two" panose="00000500000000000000"/>
                <a:sym typeface="Roca Two" panose="00000500000000000000"/>
              </a:rPr>
              <a:t>Hematocrit (Hct), Albumin (Alb), Creatinine (Cre)</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ICU admission indicator (yes / no)</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Post-operative length of stay</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               Other peri-operative variables</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Target variable: Postop Delirium (0 = No, 1 = Yes).</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3220"/>
              </a:lnSpc>
              <a:buFont typeface="Arial" panose="020B0604020202020204"/>
              <a:buChar char="•"/>
            </a:pPr>
            <a:r>
              <a:rPr lang="en-US" sz="2300" spc="23">
                <a:solidFill>
                  <a:srgbClr val="E6F0F3"/>
                </a:solidFill>
                <a:latin typeface="Roca Two" panose="00000500000000000000"/>
                <a:ea typeface="Roca Two" panose="00000500000000000000"/>
                <a:cs typeface="Roca Two" panose="00000500000000000000"/>
                <a:sym typeface="Roca Two" panose="00000500000000000000"/>
              </a:rPr>
              <a:t>Outcome is imbalanced: delirium (1) is less frequent than non-delirium (0).</a:t>
            </a:r>
            <a:endParaRPr lang="en-US" sz="2300" spc="23">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3220"/>
              </a:lnSpc>
              <a:spcBef>
                <a:spcPct val="0"/>
              </a:spcBef>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7896"/>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750" y="838200"/>
            <a:ext cx="16279933" cy="1120774"/>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D</a:t>
            </a:r>
            <a:r>
              <a:rPr lang="en-US" sz="8500">
                <a:solidFill>
                  <a:srgbClr val="E6F0F3"/>
                </a:solidFill>
                <a:latin typeface="Roca Two" panose="00000500000000000000"/>
                <a:ea typeface="Roca Two" panose="00000500000000000000"/>
                <a:cs typeface="Roca Two" panose="00000500000000000000"/>
                <a:sym typeface="Roca Two" panose="00000500000000000000"/>
              </a:rPr>
              <a:t>ata Cleaning &amp; Pre-Processing</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5" name="TextBox 5"/>
          <p:cNvSpPr txBox="1"/>
          <p:nvPr/>
        </p:nvSpPr>
        <p:spPr>
          <a:xfrm>
            <a:off x="1028700" y="3723640"/>
            <a:ext cx="13435728" cy="2877820"/>
          </a:xfrm>
          <a:prstGeom prst="rect">
            <a:avLst/>
          </a:prstGeom>
        </p:spPr>
        <p:txBody>
          <a:bodyPr lIns="0" tIns="0" rIns="0" bIns="0" rtlCol="0" anchor="t">
            <a:spAutoFit/>
          </a:bodyPr>
          <a:lstStyle/>
          <a:p>
            <a:pPr marL="496570" lvl="1" indent="-248285" algn="l">
              <a:lnSpc>
                <a:spcPts val="2300"/>
              </a:lnSpc>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Loaded the Excel file into a pandas DataFrame.</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2300"/>
              </a:lnSpc>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Converted text-encoded numeric columns to numeric types:</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2300"/>
              </a:lnSpc>
            </a:pPr>
            <a:r>
              <a:rPr lang="en-US" sz="2300">
                <a:solidFill>
                  <a:srgbClr val="E6F0F3"/>
                </a:solidFill>
                <a:latin typeface="Roca Two" panose="00000500000000000000"/>
                <a:ea typeface="Roca Two" panose="00000500000000000000"/>
                <a:cs typeface="Roca Two" panose="00000500000000000000"/>
                <a:sym typeface="Roca Two" panose="00000500000000000000"/>
              </a:rPr>
              <a:t>               </a:t>
            </a:r>
            <a:r>
              <a:rPr lang="en-US" sz="2300">
                <a:solidFill>
                  <a:srgbClr val="E6F0F3"/>
                </a:solidFill>
                <a:latin typeface="Roca Two" panose="00000500000000000000"/>
                <a:ea typeface="Roca Two" panose="00000500000000000000"/>
                <a:cs typeface="Roca Two" panose="00000500000000000000"/>
                <a:sym typeface="Roca Two" panose="00000500000000000000"/>
              </a:rPr>
              <a:t>Post-op Length of Stay, Hct, Alb, Cre.</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2300"/>
              </a:lnSpc>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Handled missing numeric values with median imputation (robust to outliers).</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2300"/>
              </a:lnSpc>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Dropped patient identifier column SN from the feature matrix.</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2300"/>
              </a:lnSpc>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Defined:</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2300"/>
              </a:lnSpc>
            </a:pPr>
            <a:r>
              <a:rPr lang="en-US" sz="2300">
                <a:solidFill>
                  <a:srgbClr val="E6F0F3"/>
                </a:solidFill>
                <a:latin typeface="Roca Two" panose="00000500000000000000"/>
                <a:ea typeface="Roca Two" panose="00000500000000000000"/>
                <a:cs typeface="Roca Two" panose="00000500000000000000"/>
                <a:sym typeface="Roca Two" panose="00000500000000000000"/>
              </a:rPr>
              <a:t>               </a:t>
            </a:r>
            <a:r>
              <a:rPr lang="en-US" sz="2300">
                <a:solidFill>
                  <a:srgbClr val="E6F0F3"/>
                </a:solidFill>
                <a:latin typeface="Roca Two" panose="00000500000000000000"/>
                <a:ea typeface="Roca Two" panose="00000500000000000000"/>
                <a:cs typeface="Roca Two" panose="00000500000000000000"/>
                <a:sym typeface="Roca Two" panose="00000500000000000000"/>
              </a:rPr>
              <a:t>Features X = all predictors except ID and target</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algn="l">
              <a:lnSpc>
                <a:spcPts val="2300"/>
              </a:lnSpc>
            </a:pPr>
            <a:r>
              <a:rPr lang="en-US" sz="2300">
                <a:solidFill>
                  <a:srgbClr val="E6F0F3"/>
                </a:solidFill>
                <a:latin typeface="Roca Two" panose="00000500000000000000"/>
                <a:ea typeface="Roca Two" panose="00000500000000000000"/>
                <a:cs typeface="Roca Two" panose="00000500000000000000"/>
                <a:sym typeface="Roca Two" panose="00000500000000000000"/>
              </a:rPr>
              <a:t>               Target y = Postop Delirium (0/1)</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2300"/>
              </a:lnSpc>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Split data into train (80%) and test (20%) using stratified sampling to preserve the delirium rate.</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a:p>
            <a:pPr marL="496570" lvl="1" indent="-248285" algn="l">
              <a:lnSpc>
                <a:spcPts val="2300"/>
              </a:lnSpc>
              <a:spcBef>
                <a:spcPct val="0"/>
              </a:spcBef>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Applied StandardScaler (fit on training data only) for LR, SVM, and MLP.</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6A6A6"/>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6750" y="838200"/>
            <a:ext cx="16279933" cy="1120774"/>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Exploratory D</a:t>
            </a:r>
            <a:r>
              <a:rPr lang="en-US" sz="8500">
                <a:solidFill>
                  <a:srgbClr val="E6F0F3"/>
                </a:solidFill>
                <a:latin typeface="Roca Two" panose="00000500000000000000"/>
                <a:ea typeface="Roca Two" panose="00000500000000000000"/>
                <a:cs typeface="Roca Two" panose="00000500000000000000"/>
                <a:sym typeface="Roca Two" panose="00000500000000000000"/>
              </a:rPr>
              <a:t>ata Analysis</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5" name="TextBox 5"/>
          <p:cNvSpPr txBox="1"/>
          <p:nvPr/>
        </p:nvSpPr>
        <p:spPr>
          <a:xfrm>
            <a:off x="666750" y="4295140"/>
            <a:ext cx="16954500" cy="1734820"/>
          </a:xfrm>
          <a:prstGeom prst="rect">
            <a:avLst/>
          </a:prstGeom>
        </p:spPr>
        <p:txBody>
          <a:bodyPr lIns="0" tIns="0" rIns="0" bIns="0" rtlCol="0" anchor="t">
            <a:spAutoFit/>
          </a:bodyPr>
          <a:lstStyle/>
          <a:p>
            <a:pPr marL="496570" lvl="1" indent="-248285" algn="just">
              <a:lnSpc>
                <a:spcPts val="2300"/>
              </a:lnSpc>
              <a:spcBef>
                <a:spcPct val="0"/>
              </a:spcBef>
              <a:buFont typeface="Arial" panose="020B0604020202020204"/>
              <a:buChar char="•"/>
            </a:pPr>
            <a:r>
              <a:rPr lang="en-US" sz="2300">
                <a:solidFill>
                  <a:srgbClr val="E6F0F3"/>
                </a:solidFill>
                <a:latin typeface="Roca Two" panose="00000500000000000000"/>
                <a:ea typeface="Roca Two" panose="00000500000000000000"/>
                <a:cs typeface="Roca Two" panose="00000500000000000000"/>
                <a:sym typeface="Roca Two" panose="00000500000000000000"/>
              </a:rPr>
              <a:t>Before training the models, I did some basic exploratory analysis to understand the dataset. I first looked at how many patients</a:t>
            </a:r>
            <a:r>
              <a:rPr lang="en-US" sz="2300">
                <a:solidFill>
                  <a:srgbClr val="E6F0F3"/>
                </a:solidFill>
                <a:latin typeface="Roca Two" panose="00000500000000000000"/>
                <a:ea typeface="Roca Two" panose="00000500000000000000"/>
                <a:cs typeface="Roca Two" panose="00000500000000000000"/>
                <a:sym typeface="Roca Two" panose="00000500000000000000"/>
              </a:rPr>
              <a:t> had delirium and how many did n</a:t>
            </a:r>
            <a:r>
              <a:rPr lang="en-US" sz="2300">
                <a:solidFill>
                  <a:srgbClr val="E6F0F3"/>
                </a:solidFill>
                <a:latin typeface="Roca Two" panose="00000500000000000000"/>
                <a:ea typeface="Roca Two" panose="00000500000000000000"/>
                <a:cs typeface="Roca Two" panose="00000500000000000000"/>
                <a:sym typeface="Roca Two" panose="00000500000000000000"/>
              </a:rPr>
              <a:t>ot, and I calculated the overall delirium rate. This confirmed that delirium is the minority class. I then created boxplots of Age versus the delirium outcome and Frailty Index versus the delirium outcome. These plots showed a clear pattern:</a:t>
            </a:r>
            <a:r>
              <a:rPr lang="en-US" sz="2300">
                <a:solidFill>
                  <a:srgbClr val="E6F0F3"/>
                </a:solidFill>
                <a:latin typeface="Roca Two" panose="00000500000000000000"/>
                <a:ea typeface="Roca Two" panose="00000500000000000000"/>
                <a:cs typeface="Roca Two" panose="00000500000000000000"/>
                <a:sym typeface="Roca Two" panose="00000500000000000000"/>
              </a:rPr>
              <a:t> p</a:t>
            </a:r>
            <a:r>
              <a:rPr lang="en-US" sz="2300">
                <a:solidFill>
                  <a:srgbClr val="E6F0F3"/>
                </a:solidFill>
                <a:latin typeface="Roca Two" panose="00000500000000000000"/>
                <a:ea typeface="Roca Two" panose="00000500000000000000"/>
                <a:cs typeface="Roca Two" panose="00000500000000000000"/>
                <a:sym typeface="Roca Two" panose="00000500000000000000"/>
              </a:rPr>
              <a:t>atients who developed delirium tended to be older and had higher frailty scores compared to those who did not. This matches what we would expect clinically, and it also suggests that age and frailty are likely to be important predictors for the machine learning models.</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6B2B2"/>
        </a:solidFill>
        <a:effectLst/>
      </p:bgPr>
    </p:bg>
    <p:spTree>
      <p:nvGrpSpPr>
        <p:cNvPr id="1" name=""/>
        <p:cNvGrpSpPr/>
        <p:nvPr/>
      </p:nvGrpSpPr>
      <p:grpSpPr>
        <a:xfrm>
          <a:off x="0" y="0"/>
          <a:ext cx="0" cy="0"/>
          <a:chOff x="0" y="0"/>
          <a:chExt cx="0" cy="0"/>
        </a:xfrm>
      </p:grpSpPr>
      <p:sp>
        <p:nvSpPr>
          <p:cNvPr id="2" name="AutoShape 2"/>
          <p:cNvSpPr/>
          <p:nvPr/>
        </p:nvSpPr>
        <p:spPr>
          <a:xfrm>
            <a:off x="9296400" y="685800"/>
            <a:ext cx="8324850" cy="0"/>
          </a:xfrm>
          <a:prstGeom prst="line">
            <a:avLst/>
          </a:prstGeom>
          <a:ln w="28575" cap="flat">
            <a:solidFill>
              <a:srgbClr val="E6F0F3"/>
            </a:solidFill>
            <a:prstDash val="solid"/>
            <a:headEnd type="none" w="sm" len="sm"/>
            <a:tailEnd type="none" w="sm" len="sm"/>
          </a:ln>
        </p:spPr>
      </p:sp>
      <p:sp>
        <p:nvSpPr>
          <p:cNvPr id="3" name="Freeform 3"/>
          <p:cNvSpPr/>
          <p:nvPr/>
        </p:nvSpPr>
        <p:spPr>
          <a:xfrm>
            <a:off x="2717858" y="8060757"/>
            <a:ext cx="1550987" cy="1559493"/>
          </a:xfrm>
          <a:custGeom>
            <a:avLst/>
            <a:gdLst/>
            <a:ahLst/>
            <a:cxnLst/>
            <a:rect l="l" t="t" r="r" b="b"/>
            <a:pathLst>
              <a:path w="1550987" h="1559493">
                <a:moveTo>
                  <a:pt x="0" y="0"/>
                </a:moveTo>
                <a:lnTo>
                  <a:pt x="1550986" y="0"/>
                </a:lnTo>
                <a:lnTo>
                  <a:pt x="1550986"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666750" y="838200"/>
            <a:ext cx="6886575" cy="3273424"/>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Model Performance Metrics</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grpSp>
        <p:nvGrpSpPr>
          <p:cNvPr id="5" name="Group 5"/>
          <p:cNvGrpSpPr/>
          <p:nvPr/>
        </p:nvGrpSpPr>
        <p:grpSpPr>
          <a:xfrm rot="0">
            <a:off x="7992897" y="996665"/>
            <a:ext cx="9778723" cy="9124635"/>
            <a:chOff x="0" y="0"/>
            <a:chExt cx="13038297" cy="12166180"/>
          </a:xfrm>
        </p:grpSpPr>
        <p:sp>
          <p:nvSpPr>
            <p:cNvPr id="6" name="TextBox 6"/>
            <p:cNvSpPr txBox="1"/>
            <p:nvPr/>
          </p:nvSpPr>
          <p:spPr>
            <a:xfrm>
              <a:off x="0" y="-47625"/>
              <a:ext cx="9182100" cy="503132"/>
            </a:xfrm>
            <a:prstGeom prst="rect">
              <a:avLst/>
            </a:prstGeom>
          </p:spPr>
          <p:txBody>
            <a:bodyPr lIns="0" tIns="0" rIns="0" bIns="0" rtlCol="0" anchor="t">
              <a:spAutoFit/>
            </a:bodyPr>
            <a:lstStyle/>
            <a:p>
              <a:pPr marL="0" lvl="0" indent="0" algn="l">
                <a:lnSpc>
                  <a:spcPts val="3220"/>
                </a:lnSpc>
                <a:spcBef>
                  <a:spcPct val="0"/>
                </a:spcBef>
              </a:pPr>
              <a:r>
                <a:rPr lang="en-US" sz="2300" b="1" spc="23">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rPr>
                <a:t>Mode</a:t>
              </a:r>
              <a:r>
                <a:rPr lang="en-US" sz="2300" b="1" spc="23">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rPr>
                <a:t>ling: Classical ML Methods</a:t>
              </a:r>
              <a:endParaRPr lang="en-US" sz="2300" b="1" spc="23">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endParaRPr>
            </a:p>
          </p:txBody>
        </p:sp>
        <p:sp>
          <p:nvSpPr>
            <p:cNvPr id="7" name="TextBox 7"/>
            <p:cNvSpPr txBox="1"/>
            <p:nvPr/>
          </p:nvSpPr>
          <p:spPr>
            <a:xfrm>
              <a:off x="0" y="705387"/>
              <a:ext cx="13038297" cy="5618692"/>
            </a:xfrm>
            <a:prstGeom prst="rect">
              <a:avLst/>
            </a:prstGeom>
          </p:spPr>
          <p:txBody>
            <a:bodyPr lIns="0" tIns="0" rIns="0" bIns="0" rtlCol="0" anchor="t">
              <a:spAutoFit/>
            </a:bodyPr>
            <a:lstStyle/>
            <a:p>
              <a:pPr marL="0" lvl="0" indent="0" algn="l">
                <a:lnSpc>
                  <a:spcPts val="2800"/>
                </a:lnSpc>
              </a:pPr>
              <a:r>
                <a:rPr lang="en-US" sz="2000" spc="40">
                  <a:solidFill>
                    <a:srgbClr val="E6F0F3"/>
                  </a:solidFill>
                  <a:latin typeface="Be Vietnam" panose="00000500000000000000"/>
                  <a:ea typeface="Be Vietnam" panose="00000500000000000000"/>
                  <a:cs typeface="Be Vietnam" panose="00000500000000000000"/>
                  <a:sym typeface="Be Vietnam" panose="00000500000000000000"/>
                </a:rPr>
                <a:t>For the modeling part, I focused on classical machine learning methods that we covered in the course. First, I used Logistic Regression as a linear baseline model and applied class_weight='balanced' to reduce bias toward the majority class. Second, I trained a Random Forest, which is an ensemble of decision trees and is good at capturing non-linear relationships and interactions between features. Third, I trained a Support Vector Machine with an RBF kernel on the scaled features, which creates a non-linear decision boundary with a maximum-margin approach. Finally, I used a Multi-Layer Perceptron neural network with two hidden layers and ReLU activation, along with early stopping and regularization to help prevent overfitting. All these models were trained on the same training data and evaluated on the same test data.</a:t>
              </a:r>
              <a:endParaRPr lang="en-US" sz="2000" spc="40">
                <a:solidFill>
                  <a:srgbClr val="E6F0F3"/>
                </a:solidFill>
                <a:latin typeface="Be Vietnam" panose="00000500000000000000"/>
                <a:ea typeface="Be Vietnam" panose="00000500000000000000"/>
                <a:cs typeface="Be Vietnam" panose="00000500000000000000"/>
                <a:sym typeface="Be Vietnam" panose="00000500000000000000"/>
              </a:endParaRPr>
            </a:p>
          </p:txBody>
        </p:sp>
        <p:sp>
          <p:nvSpPr>
            <p:cNvPr id="8" name="TextBox 8"/>
            <p:cNvSpPr txBox="1"/>
            <p:nvPr/>
          </p:nvSpPr>
          <p:spPr>
            <a:xfrm>
              <a:off x="0" y="6739682"/>
              <a:ext cx="9182100" cy="503132"/>
            </a:xfrm>
            <a:prstGeom prst="rect">
              <a:avLst/>
            </a:prstGeom>
          </p:spPr>
          <p:txBody>
            <a:bodyPr lIns="0" tIns="0" rIns="0" bIns="0" rtlCol="0" anchor="t">
              <a:spAutoFit/>
            </a:bodyPr>
            <a:lstStyle/>
            <a:p>
              <a:pPr marL="0" lvl="0" indent="0" algn="l">
                <a:lnSpc>
                  <a:spcPts val="3220"/>
                </a:lnSpc>
                <a:spcBef>
                  <a:spcPct val="0"/>
                </a:spcBef>
              </a:pPr>
              <a:r>
                <a:rPr lang="en-US" sz="2300" b="1" spc="23">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rPr>
                <a:t>Evalua</a:t>
              </a:r>
              <a:r>
                <a:rPr lang="en-US" sz="2300" b="1" spc="23">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rPr>
                <a:t>tion Strategy</a:t>
              </a:r>
              <a:endParaRPr lang="en-US" sz="2300" b="1" spc="23">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endParaRPr>
            </a:p>
          </p:txBody>
        </p:sp>
        <p:sp>
          <p:nvSpPr>
            <p:cNvPr id="9" name="TextBox 9"/>
            <p:cNvSpPr txBox="1"/>
            <p:nvPr/>
          </p:nvSpPr>
          <p:spPr>
            <a:xfrm>
              <a:off x="0" y="7487289"/>
              <a:ext cx="13038297" cy="4678892"/>
            </a:xfrm>
            <a:prstGeom prst="rect">
              <a:avLst/>
            </a:prstGeom>
          </p:spPr>
          <p:txBody>
            <a:bodyPr lIns="0" tIns="0" rIns="0" bIns="0" rtlCol="0" anchor="t">
              <a:spAutoFit/>
            </a:bodyPr>
            <a:lstStyle/>
            <a:p>
              <a:pPr marL="0" lvl="0" indent="0" algn="l">
                <a:lnSpc>
                  <a:spcPts val="2800"/>
                </a:lnSpc>
              </a:pPr>
              <a:r>
                <a:rPr lang="en-US" sz="2000" spc="40">
                  <a:solidFill>
                    <a:srgbClr val="E6F0F3"/>
                  </a:solidFill>
                  <a:latin typeface="Be Vietnam" panose="00000500000000000000"/>
                  <a:ea typeface="Be Vietnam" panose="00000500000000000000"/>
                  <a:cs typeface="Be Vietnam" panose="00000500000000000000"/>
                  <a:sym typeface="Be Vietnam" panose="00000500000000000000"/>
                </a:rPr>
                <a:t>Because the dataset is imbalanced, I c</a:t>
              </a:r>
              <a:r>
                <a:rPr lang="en-US" sz="2000" spc="40">
                  <a:solidFill>
                    <a:srgbClr val="E6F0F3"/>
                  </a:solidFill>
                  <a:latin typeface="Be Vietnam" panose="00000500000000000000"/>
                  <a:ea typeface="Be Vietnam" panose="00000500000000000000"/>
                  <a:cs typeface="Be Vietnam" panose="00000500000000000000"/>
                  <a:sym typeface="Be Vietnam" panose="00000500000000000000"/>
                </a:rPr>
                <a:t>ould not just rely on accuracy to judge the models. Instead, my primary evaluation metric is ROC AUC, which measures how well a model separates delirium and non-delirium across all possible thresholds. In addition to ROC AUC, I examined the classification report, which provides precision, recall, and F1 scores for both classes, and I looked at the confusion matrix for each model. I paid special attention to recall for the delirium class, because in a medical context we care a lot about not missing high-risk patients, even if that means we might accept a slightly higher false-positive rate. This combination of metrics gives a more complete picture of how the models perform in a real clinical scenario.</a:t>
              </a:r>
              <a:endParaRPr lang="en-US" sz="2000" spc="40">
                <a:solidFill>
                  <a:srgbClr val="E6F0F3"/>
                </a:solidFill>
                <a:latin typeface="Be Vietnam" panose="00000500000000000000"/>
                <a:ea typeface="Be Vietnam" panose="00000500000000000000"/>
                <a:cs typeface="Be Vietnam" panose="00000500000000000000"/>
                <a:sym typeface="Be Vietnam" panose="00000500000000000000"/>
              </a:endParaRPr>
            </a:p>
          </p:txBody>
        </p:sp>
      </p:grpSp>
      <p:sp>
        <p:nvSpPr>
          <p:cNvPr id="10" name="Freeform 10"/>
          <p:cNvSpPr/>
          <p:nvPr/>
        </p:nvSpPr>
        <p:spPr>
          <a:xfrm>
            <a:off x="666750"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grpSp>
        <p:nvGrpSpPr>
          <p:cNvPr id="2" name="Group 2"/>
          <p:cNvGrpSpPr/>
          <p:nvPr/>
        </p:nvGrpSpPr>
        <p:grpSpPr>
          <a:xfrm rot="0">
            <a:off x="12172950" y="0"/>
            <a:ext cx="6115050" cy="10287000"/>
            <a:chOff x="0" y="0"/>
            <a:chExt cx="1083574" cy="1822834"/>
          </a:xfrm>
        </p:grpSpPr>
        <p:sp>
          <p:nvSpPr>
            <p:cNvPr id="3" name="Freeform 3"/>
            <p:cNvSpPr/>
            <p:nvPr/>
          </p:nvSpPr>
          <p:spPr>
            <a:xfrm>
              <a:off x="0" y="0"/>
              <a:ext cx="1083574" cy="1822834"/>
            </a:xfrm>
            <a:custGeom>
              <a:avLst/>
              <a:gdLst/>
              <a:ahLst/>
              <a:cxnLst/>
              <a:rect l="l" t="t" r="r" b="b"/>
              <a:pathLst>
                <a:path w="1083574" h="1822834">
                  <a:moveTo>
                    <a:pt x="0" y="0"/>
                  </a:moveTo>
                  <a:lnTo>
                    <a:pt x="1083574" y="0"/>
                  </a:lnTo>
                  <a:lnTo>
                    <a:pt x="1083574" y="1822834"/>
                  </a:lnTo>
                  <a:lnTo>
                    <a:pt x="0" y="1822834"/>
                  </a:lnTo>
                  <a:close/>
                </a:path>
              </a:pathLst>
            </a:custGeom>
            <a:blipFill>
              <a:blip r:embed="rId1"/>
              <a:stretch>
                <a:fillRect t="-58" b="-58"/>
              </a:stretch>
            </a:blipFill>
          </p:spPr>
        </p:sp>
      </p:grpSp>
      <p:sp>
        <p:nvSpPr>
          <p:cNvPr id="4" name="TextBox 4"/>
          <p:cNvSpPr txBox="1"/>
          <p:nvPr/>
        </p:nvSpPr>
        <p:spPr>
          <a:xfrm>
            <a:off x="666750" y="666750"/>
            <a:ext cx="9763125" cy="1276350"/>
          </a:xfrm>
          <a:prstGeom prst="rect">
            <a:avLst/>
          </a:prstGeom>
        </p:spPr>
        <p:txBody>
          <a:bodyPr lIns="0" tIns="0" rIns="0" bIns="0" rtlCol="0" anchor="t">
            <a:spAutoFit/>
          </a:bodyPr>
          <a:lstStyle/>
          <a:p>
            <a:pPr marL="0" lvl="0" indent="0" algn="l">
              <a:lnSpc>
                <a:spcPts val="10070"/>
              </a:lnSpc>
            </a:pPr>
            <a:r>
              <a:rPr lang="en-US" sz="8395">
                <a:solidFill>
                  <a:srgbClr val="E6F0F3"/>
                </a:solidFill>
                <a:latin typeface="Roca Two" panose="00000500000000000000"/>
                <a:ea typeface="Roca Two" panose="00000500000000000000"/>
                <a:cs typeface="Roca Two" panose="00000500000000000000"/>
                <a:sym typeface="Roca Two" panose="00000500000000000000"/>
              </a:rPr>
              <a:t>Confusion Matrices</a:t>
            </a:r>
            <a:endParaRPr lang="en-US" sz="8395">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5" name="TextBox 5"/>
          <p:cNvSpPr txBox="1"/>
          <p:nvPr/>
        </p:nvSpPr>
        <p:spPr>
          <a:xfrm>
            <a:off x="698975" y="3305175"/>
            <a:ext cx="5010150" cy="4930775"/>
          </a:xfrm>
          <a:prstGeom prst="rect">
            <a:avLst/>
          </a:prstGeom>
        </p:spPr>
        <p:txBody>
          <a:bodyPr lIns="0" tIns="0" rIns="0" bIns="0" rtlCol="0" anchor="t">
            <a:spAutoFit/>
          </a:bodyPr>
          <a:lstStyle/>
          <a:p>
            <a:pPr marL="0" lvl="0" indent="0" algn="l">
              <a:lnSpc>
                <a:spcPts val="2800"/>
              </a:lnSpc>
            </a:pPr>
            <a:r>
              <a:rPr lang="en-US" sz="2000" spc="40">
                <a:solidFill>
                  <a:srgbClr val="E6F0F3"/>
                </a:solidFill>
                <a:latin typeface="Roca Two" panose="00000500000000000000"/>
                <a:ea typeface="Roca Two" panose="00000500000000000000"/>
                <a:cs typeface="Roca Two" panose="00000500000000000000"/>
                <a:sym typeface="Roca Two" panose="00000500000000000000"/>
              </a:rPr>
              <a:t>Confusion matrices provide vital insights into the performance of our models. They illustrate the number of true positives, false positives, true negatives, and false negatives regarding delirium detection. By analyzing these metrics, we can understand where models succeed and where they fall short. The emphasis is on achieving high recall for delirium cases, as failing to identify these patients can lead to severe consequences. Balancing accuracy and clinical relevance is paramount in our approach.</a:t>
            </a:r>
            <a:endParaRPr lang="en-US" sz="2000" spc="4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6" name="TextBox 6"/>
          <p:cNvSpPr txBox="1"/>
          <p:nvPr/>
        </p:nvSpPr>
        <p:spPr>
          <a:xfrm>
            <a:off x="6452075" y="3305175"/>
            <a:ext cx="4975795" cy="4930775"/>
          </a:xfrm>
          <a:prstGeom prst="rect">
            <a:avLst/>
          </a:prstGeom>
        </p:spPr>
        <p:txBody>
          <a:bodyPr lIns="0" tIns="0" rIns="0" bIns="0" rtlCol="0" anchor="t">
            <a:spAutoFit/>
          </a:bodyPr>
          <a:lstStyle/>
          <a:p>
            <a:pPr marL="0" lvl="0" indent="0" algn="l">
              <a:lnSpc>
                <a:spcPts val="2800"/>
              </a:lnSpc>
            </a:pPr>
            <a:r>
              <a:rPr lang="en-US" sz="2000" spc="40">
                <a:solidFill>
                  <a:srgbClr val="E6F0F3"/>
                </a:solidFill>
                <a:latin typeface="Roca Two" panose="00000500000000000000"/>
                <a:ea typeface="Roca Two" panose="00000500000000000000"/>
                <a:cs typeface="Roca Two" panose="00000500000000000000"/>
                <a:sym typeface="Roca Two" panose="00000500000000000000"/>
              </a:rPr>
              <a:t>Furthermore, the use of class weighting improves recall for the delirium class within our model. Despite this, some delirium cases remain undetected, leading to false negatives. This presents a clinical challenge: while it’s crucial to avoid missing delirium diagnoses, over-flagging low-risk patients can also strain healthcare resources. Striking the right balance is essential to ensure that our predictive model serves as an effective decision-support tool for clinicians, enhancing patient care without overwhelming systems.</a:t>
            </a:r>
            <a:endParaRPr lang="en-US" sz="2000" spc="40">
              <a:solidFill>
                <a:srgbClr val="E6F0F3"/>
              </a:solidFill>
              <a:latin typeface="Roca Two" panose="00000500000000000000"/>
              <a:ea typeface="Roca Two" panose="00000500000000000000"/>
              <a:cs typeface="Roca Two" panose="00000500000000000000"/>
              <a:sym typeface="Roca Two" panose="000005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7896"/>
        </a:solidFill>
        <a:effectLst/>
      </p:bgPr>
    </p:bg>
    <p:spTree>
      <p:nvGrpSpPr>
        <p:cNvPr id="1" name=""/>
        <p:cNvGrpSpPr/>
        <p:nvPr/>
      </p:nvGrpSpPr>
      <p:grpSpPr>
        <a:xfrm>
          <a:off x="0" y="0"/>
          <a:ext cx="0" cy="0"/>
          <a:chOff x="0" y="0"/>
          <a:chExt cx="0" cy="0"/>
        </a:xfrm>
      </p:grpSpPr>
      <p:sp>
        <p:nvSpPr>
          <p:cNvPr id="2" name="AutoShape 2"/>
          <p:cNvSpPr/>
          <p:nvPr/>
        </p:nvSpPr>
        <p:spPr>
          <a:xfrm>
            <a:off x="9296400" y="685800"/>
            <a:ext cx="8324850" cy="0"/>
          </a:xfrm>
          <a:prstGeom prst="line">
            <a:avLst/>
          </a:prstGeom>
          <a:ln w="28575" cap="flat">
            <a:solidFill>
              <a:srgbClr val="E6F0F3"/>
            </a:solidFill>
            <a:prstDash val="solid"/>
            <a:headEnd type="none" w="sm" len="sm"/>
            <a:tailEnd type="none" w="sm" len="sm"/>
          </a:ln>
        </p:spPr>
      </p:sp>
      <p:sp>
        <p:nvSpPr>
          <p:cNvPr id="3" name="Freeform 3"/>
          <p:cNvSpPr/>
          <p:nvPr/>
        </p:nvSpPr>
        <p:spPr>
          <a:xfrm>
            <a:off x="2717858" y="8060757"/>
            <a:ext cx="1550987" cy="1559493"/>
          </a:xfrm>
          <a:custGeom>
            <a:avLst/>
            <a:gdLst/>
            <a:ahLst/>
            <a:cxnLst/>
            <a:rect l="l" t="t" r="r" b="b"/>
            <a:pathLst>
              <a:path w="1550987" h="1559493">
                <a:moveTo>
                  <a:pt x="0" y="0"/>
                </a:moveTo>
                <a:lnTo>
                  <a:pt x="1550986" y="0"/>
                </a:lnTo>
                <a:lnTo>
                  <a:pt x="1550986"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666750" y="838200"/>
            <a:ext cx="6886575" cy="2197099"/>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Key Risk Factors</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grpSp>
        <p:nvGrpSpPr>
          <p:cNvPr id="5" name="Group 5"/>
          <p:cNvGrpSpPr/>
          <p:nvPr/>
        </p:nvGrpSpPr>
        <p:grpSpPr>
          <a:xfrm rot="0">
            <a:off x="5446992" y="1082357"/>
            <a:ext cx="11896916" cy="8509824"/>
            <a:chOff x="0" y="0"/>
            <a:chExt cx="15862555" cy="11346432"/>
          </a:xfrm>
        </p:grpSpPr>
        <p:sp>
          <p:nvSpPr>
            <p:cNvPr id="6" name="TextBox 6"/>
            <p:cNvSpPr txBox="1"/>
            <p:nvPr/>
          </p:nvSpPr>
          <p:spPr>
            <a:xfrm>
              <a:off x="0" y="-38100"/>
              <a:ext cx="9182100" cy="537634"/>
            </a:xfrm>
            <a:prstGeom prst="rect">
              <a:avLst/>
            </a:prstGeom>
          </p:spPr>
          <p:txBody>
            <a:bodyPr lIns="0" tIns="0" rIns="0" bIns="0" rtlCol="0" anchor="t">
              <a:spAutoFit/>
            </a:bodyPr>
            <a:lstStyle/>
            <a:p>
              <a:pPr marL="0" lvl="0" indent="0" algn="l">
                <a:lnSpc>
                  <a:spcPts val="3500"/>
                </a:lnSpc>
                <a:spcBef>
                  <a:spcPct val="0"/>
                </a:spcBef>
              </a:pPr>
              <a:r>
                <a:rPr lang="en-US" sz="2500" spc="24">
                  <a:solidFill>
                    <a:srgbClr val="E6F0F3"/>
                  </a:solidFill>
                  <a:latin typeface="Roca Two" panose="00000500000000000000"/>
                  <a:ea typeface="Roca Two" panose="00000500000000000000"/>
                  <a:cs typeface="Roca Two" panose="00000500000000000000"/>
                  <a:sym typeface="Roca Two" panose="00000500000000000000"/>
                </a:rPr>
                <a:t>Importance of Random Forest Features</a:t>
              </a:r>
              <a:endParaRPr lang="en-US" sz="2500" spc="24">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7" name="TextBox 7"/>
            <p:cNvSpPr txBox="1"/>
            <p:nvPr/>
          </p:nvSpPr>
          <p:spPr>
            <a:xfrm>
              <a:off x="0" y="782109"/>
              <a:ext cx="15862555" cy="4236932"/>
            </a:xfrm>
            <a:prstGeom prst="rect">
              <a:avLst/>
            </a:prstGeom>
          </p:spPr>
          <p:txBody>
            <a:bodyPr lIns="0" tIns="0" rIns="0" bIns="0" rtlCol="0" anchor="t">
              <a:spAutoFit/>
            </a:bodyPr>
            <a:lstStyle/>
            <a:p>
              <a:pPr marL="0" lvl="0" indent="0" algn="l">
                <a:lnSpc>
                  <a:spcPts val="3220"/>
                </a:lnSpc>
              </a:pPr>
              <a:r>
                <a:rPr lang="en-US" sz="2300" spc="45">
                  <a:solidFill>
                    <a:srgbClr val="E6F0F3"/>
                  </a:solidFill>
                  <a:latin typeface="Roca Two" panose="00000500000000000000"/>
                  <a:ea typeface="Roca Two" panose="00000500000000000000"/>
                  <a:cs typeface="Roca Two" panose="00000500000000000000"/>
                  <a:sym typeface="Roca Two" panose="00000500000000000000"/>
                </a:rPr>
                <a:t>In this project I refitted the </a:t>
              </a:r>
              <a:r>
                <a:rPr lang="en-US" sz="2300" spc="45">
                  <a:solidFill>
                    <a:srgbClr val="E6F0F3"/>
                  </a:solidFill>
                  <a:latin typeface="Roca Two" panose="00000500000000000000"/>
                  <a:ea typeface="Roca Two" panose="00000500000000000000"/>
                  <a:cs typeface="Roca Two" panose="00000500000000000000"/>
                  <a:sym typeface="Roca Two" panose="00000500000000000000"/>
                </a:rPr>
                <a:t>Random Forest with 300 trees and extracted the feature importances to see which variables the model relied on most often when splitting the trees. Even though the Random Forest’s ROC AUC on the test set was only about 0.597, its importance rankings are still very useful for interpretation. They highlight which clinical features consistently help separate high- and low-risk patients across many decision paths. I used these importances to sanity-check the model against clinical knowledge and to guide which variables to emphasize in the patient-level risk explanation.</a:t>
              </a:r>
              <a:endParaRPr lang="en-US" sz="2300" spc="45">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8" name="TextBox 8"/>
            <p:cNvSpPr txBox="1"/>
            <p:nvPr/>
          </p:nvSpPr>
          <p:spPr>
            <a:xfrm>
              <a:off x="0" y="5755891"/>
              <a:ext cx="9182100" cy="537634"/>
            </a:xfrm>
            <a:prstGeom prst="rect">
              <a:avLst/>
            </a:prstGeom>
          </p:spPr>
          <p:txBody>
            <a:bodyPr lIns="0" tIns="0" rIns="0" bIns="0" rtlCol="0" anchor="t">
              <a:spAutoFit/>
            </a:bodyPr>
            <a:lstStyle/>
            <a:p>
              <a:pPr marL="0" lvl="0" indent="0" algn="l">
                <a:lnSpc>
                  <a:spcPts val="3500"/>
                </a:lnSpc>
                <a:spcBef>
                  <a:spcPct val="0"/>
                </a:spcBef>
              </a:pPr>
              <a:r>
                <a:rPr lang="en-US" sz="2500" spc="24">
                  <a:solidFill>
                    <a:srgbClr val="E6F0F3"/>
                  </a:solidFill>
                  <a:latin typeface="Roca Two" panose="00000500000000000000"/>
                  <a:ea typeface="Roca Two" panose="00000500000000000000"/>
                  <a:cs typeface="Roca Two" panose="00000500000000000000"/>
                  <a:sym typeface="Roca Two" panose="00000500000000000000"/>
                </a:rPr>
                <a:t>Top Predictive Features</a:t>
              </a:r>
              <a:endParaRPr lang="en-US" sz="2500" spc="24">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9" name="TextBox 9"/>
            <p:cNvSpPr txBox="1"/>
            <p:nvPr/>
          </p:nvSpPr>
          <p:spPr>
            <a:xfrm>
              <a:off x="0" y="6576100"/>
              <a:ext cx="15862555" cy="4770332"/>
            </a:xfrm>
            <a:prstGeom prst="rect">
              <a:avLst/>
            </a:prstGeom>
          </p:spPr>
          <p:txBody>
            <a:bodyPr lIns="0" tIns="0" rIns="0" bIns="0" rtlCol="0" anchor="t">
              <a:spAutoFit/>
            </a:bodyPr>
            <a:lstStyle/>
            <a:p>
              <a:pPr marL="0" lvl="0" indent="0" algn="l">
                <a:lnSpc>
                  <a:spcPts val="3220"/>
                </a:lnSpc>
              </a:pPr>
              <a:r>
                <a:rPr lang="en-US" sz="2300" spc="45">
                  <a:solidFill>
                    <a:srgbClr val="E6F0F3"/>
                  </a:solidFill>
                  <a:latin typeface="Roca Two" panose="00000500000000000000"/>
                  <a:ea typeface="Roca Two" panose="00000500000000000000"/>
                  <a:cs typeface="Roca Two" panose="00000500000000000000"/>
                  <a:sym typeface="Roca Two" panose="00000500000000000000"/>
                </a:rPr>
                <a:t>The highest-rank</a:t>
              </a:r>
              <a:r>
                <a:rPr lang="en-US" sz="2300" spc="45">
                  <a:solidFill>
                    <a:srgbClr val="E6F0F3"/>
                  </a:solidFill>
                  <a:latin typeface="Roca Two" panose="00000500000000000000"/>
                  <a:ea typeface="Roca Two" panose="00000500000000000000"/>
                  <a:cs typeface="Roca Two" panose="00000500000000000000"/>
                  <a:sym typeface="Roca Two" panose="00000500000000000000"/>
                </a:rPr>
                <a:t>ed features from the Random Forest were Frailty Index and Age, followed by ICU admission status and several lab values, especially hematocrit (Hct) and albumin (Alb). Patients who were older, more frail, and had an ICU stay tended to receive higher predicted delirium risk. Abnormal labs, such as low hematocrit and low albumin, also pushed the prediction toward delirium, while more normal lab values pulled the risk down. Logistic Regression coefficients showed the same pattern: Age, Frailty Index, and ICU status had positive coefficients, whereas better lab values had negative coefficients. Together, these models point to a consistent story about vulnerability in older surgical patients.</a:t>
              </a:r>
              <a:endParaRPr lang="en-US" sz="2300" spc="45">
                <a:solidFill>
                  <a:srgbClr val="E6F0F3"/>
                </a:solidFill>
                <a:latin typeface="Roca Two" panose="00000500000000000000"/>
                <a:ea typeface="Roca Two" panose="00000500000000000000"/>
                <a:cs typeface="Roca Two" panose="00000500000000000000"/>
                <a:sym typeface="Roca Two" panose="00000500000000000000"/>
              </a:endParaRPr>
            </a:p>
          </p:txBody>
        </p:sp>
      </p:grpSp>
      <p:sp>
        <p:nvSpPr>
          <p:cNvPr id="10" name="Freeform 10"/>
          <p:cNvSpPr/>
          <p:nvPr/>
        </p:nvSpPr>
        <p:spPr>
          <a:xfrm>
            <a:off x="666750"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6B2B2"/>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1028700" y="1028700"/>
            <a:ext cx="15753183" cy="4895220"/>
            <a:chOff x="0" y="0"/>
            <a:chExt cx="21004243" cy="6526961"/>
          </a:xfrm>
        </p:grpSpPr>
        <p:sp>
          <p:nvSpPr>
            <p:cNvPr id="5" name="TextBox 5"/>
            <p:cNvSpPr txBox="1"/>
            <p:nvPr/>
          </p:nvSpPr>
          <p:spPr>
            <a:xfrm>
              <a:off x="0" y="171450"/>
              <a:ext cx="13423900" cy="1551516"/>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PCA &amp; Clustering</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6" name="TextBox 6"/>
            <p:cNvSpPr txBox="1"/>
            <p:nvPr/>
          </p:nvSpPr>
          <p:spPr>
            <a:xfrm>
              <a:off x="0" y="2658541"/>
              <a:ext cx="21004243" cy="3868420"/>
            </a:xfrm>
            <a:prstGeom prst="rect">
              <a:avLst/>
            </a:prstGeom>
          </p:spPr>
          <p:txBody>
            <a:bodyPr lIns="0" tIns="0" rIns="0" bIns="0" rtlCol="0" anchor="t">
              <a:spAutoFit/>
            </a:bodyPr>
            <a:lstStyle/>
            <a:p>
              <a:pPr marL="0" lvl="0" indent="0" algn="l">
                <a:lnSpc>
                  <a:spcPts val="3360"/>
                </a:lnSpc>
                <a:spcBef>
                  <a:spcPct val="0"/>
                </a:spcBef>
              </a:pPr>
              <a:r>
                <a:rPr lang="en-US" sz="2400" spc="24">
                  <a:solidFill>
                    <a:srgbClr val="E6F0F3"/>
                  </a:solidFill>
                  <a:latin typeface="Roca Two" panose="00000500000000000000"/>
                  <a:ea typeface="Roca Two" panose="00000500000000000000"/>
                  <a:cs typeface="Roca Two" panose="00000500000000000000"/>
                  <a:sym typeface="Roca Two" panose="00000500000000000000"/>
                </a:rPr>
                <a:t>In the next step, I used Principal Component Analysis (PCA) to reduce all 35 clinical features down to two main components. The first component e</a:t>
              </a:r>
              <a:r>
                <a:rPr lang="en-US" sz="2400" spc="24">
                  <a:solidFill>
                    <a:srgbClr val="E6F0F3"/>
                  </a:solidFill>
                  <a:latin typeface="Roca Two" panose="00000500000000000000"/>
                  <a:ea typeface="Roca Two" panose="00000500000000000000"/>
                  <a:cs typeface="Roca Two" panose="00000500000000000000"/>
                  <a:sym typeface="Roca Two" panose="00000500000000000000"/>
                </a:rPr>
                <a:t>xplained about 14.2% of the variance and the second about 8.6%, so together the first two PCs captured roughly 23% of the overall variation in the patient cohort. I then plotted the patients in this 2-D PCA space and applied K-Means clustering with k = 3 to look for natural subgroups. The three clusters contained 109, 30, and 57 patients, with delirium rates of about 6.4%, 33.3%, and 12.3% respectively. This shows that one cluster has a clearly higher delirium rate, which suggests a distinct high-risk patient phenotype that might benefit from closer monitoring and targeted prevention strategies.</a:t>
              </a:r>
              <a:endParaRPr lang="en-US" sz="2400" spc="24">
                <a:solidFill>
                  <a:srgbClr val="E6F0F3"/>
                </a:solidFill>
                <a:latin typeface="Roca Two" panose="00000500000000000000"/>
                <a:ea typeface="Roca Two" panose="00000500000000000000"/>
                <a:cs typeface="Roca Two" panose="00000500000000000000"/>
                <a:sym typeface="Roca Two" panose="00000500000000000000"/>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3D62"/>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666750" y="666750"/>
            <a:ext cx="11941711" cy="1790700"/>
            <a:chOff x="0" y="0"/>
            <a:chExt cx="15922281" cy="2387600"/>
          </a:xfrm>
        </p:grpSpPr>
        <p:sp>
          <p:nvSpPr>
            <p:cNvPr id="5" name="TextBox 5"/>
            <p:cNvSpPr txBox="1"/>
            <p:nvPr/>
          </p:nvSpPr>
          <p:spPr>
            <a:xfrm>
              <a:off x="0" y="171450"/>
              <a:ext cx="15922281" cy="1551516"/>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Patient-Level Interface</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6" name="TextBox 6"/>
            <p:cNvSpPr txBox="1"/>
            <p:nvPr/>
          </p:nvSpPr>
          <p:spPr>
            <a:xfrm>
              <a:off x="0" y="1925320"/>
              <a:ext cx="15922281" cy="462280"/>
            </a:xfrm>
            <a:prstGeom prst="rect">
              <a:avLst/>
            </a:prstGeom>
          </p:spPr>
          <p:txBody>
            <a:bodyPr lIns="0" tIns="0" rIns="0" bIns="0" rtlCol="0" anchor="t">
              <a:spAutoFit/>
            </a:bodyPr>
            <a:lstStyle/>
            <a:p>
              <a:pPr marL="0" lvl="0" indent="0" algn="l">
                <a:lnSpc>
                  <a:spcPts val="2940"/>
                </a:lnSpc>
                <a:spcBef>
                  <a:spcPct val="0"/>
                </a:spcBef>
              </a:pPr>
            </a:p>
          </p:txBody>
        </p:sp>
      </p:grpSp>
      <p:sp>
        <p:nvSpPr>
          <p:cNvPr id="7" name="TextBox 7"/>
          <p:cNvSpPr txBox="1"/>
          <p:nvPr/>
        </p:nvSpPr>
        <p:spPr>
          <a:xfrm>
            <a:off x="666750" y="2514600"/>
            <a:ext cx="16954500" cy="2346960"/>
          </a:xfrm>
          <a:prstGeom prst="rect">
            <a:avLst/>
          </a:prstGeom>
        </p:spPr>
        <p:txBody>
          <a:bodyPr lIns="0" tIns="0" rIns="0" bIns="0" rtlCol="0" anchor="t">
            <a:spAutoFit/>
          </a:bodyPr>
          <a:lstStyle/>
          <a:p>
            <a:pPr algn="just">
              <a:lnSpc>
                <a:spcPts val="2500"/>
              </a:lnSpc>
            </a:pPr>
            <a:r>
              <a:rPr lang="en-US" sz="2500">
                <a:solidFill>
                  <a:srgbClr val="E6F0F3"/>
                </a:solidFill>
                <a:latin typeface="Roca Two" panose="00000500000000000000"/>
                <a:ea typeface="Roca Two" panose="00000500000000000000"/>
                <a:cs typeface="Roca Two" panose="00000500000000000000"/>
                <a:sym typeface="Roca Two" panose="00000500000000000000"/>
              </a:rPr>
              <a:t>How the interface works</a:t>
            </a:r>
            <a:endParaRPr lang="en-US" sz="2500">
              <a:solidFill>
                <a:srgbClr val="E6F0F3"/>
              </a:solidFill>
              <a:latin typeface="Roca Two" panose="00000500000000000000"/>
              <a:ea typeface="Roca Two" panose="00000500000000000000"/>
              <a:cs typeface="Roca Two" panose="00000500000000000000"/>
              <a:sym typeface="Roca Two" panose="00000500000000000000"/>
            </a:endParaRPr>
          </a:p>
          <a:p>
            <a:pPr algn="just">
              <a:lnSpc>
                <a:spcPts val="2500"/>
              </a:lnSpc>
            </a:pPr>
          </a:p>
          <a:p>
            <a:pPr algn="just">
              <a:lnSpc>
                <a:spcPts val="2300"/>
              </a:lnSpc>
              <a:spcBef>
                <a:spcPct val="0"/>
              </a:spcBef>
            </a:pPr>
            <a:r>
              <a:rPr lang="en-US" sz="2300">
                <a:solidFill>
                  <a:srgbClr val="E6F0F3"/>
                </a:solidFill>
                <a:latin typeface="Roca Two" panose="00000500000000000000"/>
                <a:ea typeface="Roca Two" panose="00000500000000000000"/>
                <a:cs typeface="Roca Two" panose="00000500000000000000"/>
                <a:sym typeface="Roca Two" panose="00000500000000000000"/>
              </a:rPr>
              <a:t>Behind the scenes, the patient-level interface starts from a “typical” template patient built using the median values of all features in the training set. For a real case, the clinician (or user) only needs to enter a few key details such as Age, Frailty Index, ICU admission (yes/no), and lab values like hemat</a:t>
            </a:r>
            <a:r>
              <a:rPr lang="en-US" sz="2300">
                <a:solidFill>
                  <a:srgbClr val="E6F0F3"/>
                </a:solidFill>
                <a:latin typeface="Roca Two" panose="00000500000000000000"/>
                <a:ea typeface="Roca Two" panose="00000500000000000000"/>
                <a:cs typeface="Roca Two" panose="00000500000000000000"/>
                <a:sym typeface="Roca Two" panose="00000500000000000000"/>
              </a:rPr>
              <a:t>ocrit, albumin, and creatinine. These values are passed to the trained Random Forest model through a simple function, which returns both a predicted class (delirium vs no delirium) and a probability between 0 and 1. A small if-else rule then converts this probability into an easy-to-read label: Low chance of delirium or High risk of delirium.</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8" name="TextBox 8"/>
          <p:cNvSpPr txBox="1"/>
          <p:nvPr/>
        </p:nvSpPr>
        <p:spPr>
          <a:xfrm>
            <a:off x="666750" y="5631849"/>
            <a:ext cx="16954500" cy="2032635"/>
          </a:xfrm>
          <a:prstGeom prst="rect">
            <a:avLst/>
          </a:prstGeom>
        </p:spPr>
        <p:txBody>
          <a:bodyPr lIns="0" tIns="0" rIns="0" bIns="0" rtlCol="0" anchor="t">
            <a:spAutoFit/>
          </a:bodyPr>
          <a:lstStyle/>
          <a:p>
            <a:pPr algn="just">
              <a:lnSpc>
                <a:spcPts val="2500"/>
              </a:lnSpc>
            </a:pPr>
            <a:r>
              <a:rPr lang="en-US" sz="2500">
                <a:solidFill>
                  <a:srgbClr val="E6F0F3"/>
                </a:solidFill>
                <a:latin typeface="Roca Two" panose="00000500000000000000"/>
                <a:ea typeface="Roca Two" panose="00000500000000000000"/>
                <a:cs typeface="Roca Two" panose="00000500000000000000"/>
                <a:sym typeface="Roca Two" panose="00000500000000000000"/>
              </a:rPr>
              <a:t>Why this is useful for clinicians</a:t>
            </a:r>
            <a:endParaRPr lang="en-US" sz="2500">
              <a:solidFill>
                <a:srgbClr val="E6F0F3"/>
              </a:solidFill>
              <a:latin typeface="Roca Two" panose="00000500000000000000"/>
              <a:ea typeface="Roca Two" panose="00000500000000000000"/>
              <a:cs typeface="Roca Two" panose="00000500000000000000"/>
              <a:sym typeface="Roca Two" panose="00000500000000000000"/>
            </a:endParaRPr>
          </a:p>
          <a:p>
            <a:pPr algn="just">
              <a:lnSpc>
                <a:spcPts val="2300"/>
              </a:lnSpc>
            </a:pPr>
          </a:p>
          <a:p>
            <a:pPr algn="just">
              <a:lnSpc>
                <a:spcPts val="2300"/>
              </a:lnSpc>
              <a:spcBef>
                <a:spcPct val="0"/>
              </a:spcBef>
            </a:pPr>
            <a:r>
              <a:rPr lang="en-US" sz="2300">
                <a:solidFill>
                  <a:srgbClr val="E6F0F3"/>
                </a:solidFill>
                <a:latin typeface="Roca Two" panose="00000500000000000000"/>
                <a:ea typeface="Roca Two" panose="00000500000000000000"/>
                <a:cs typeface="Roca Two" panose="00000500000000000000"/>
                <a:sym typeface="Roca Two" panose="00000500000000000000"/>
              </a:rPr>
              <a:t>This interface hides all of the model complexity and focuses on a single, interpretable output that clinicians can act on quickly. Because it uses r</a:t>
            </a:r>
            <a:r>
              <a:rPr lang="en-US" sz="2300">
                <a:solidFill>
                  <a:srgbClr val="E6F0F3"/>
                </a:solidFill>
                <a:latin typeface="Roca Two" panose="00000500000000000000"/>
                <a:ea typeface="Roca Two" panose="00000500000000000000"/>
                <a:cs typeface="Roca Two" panose="00000500000000000000"/>
                <a:sym typeface="Roca Two" panose="00000500000000000000"/>
              </a:rPr>
              <a:t>outine variables that are already collected in the hospital, it fits naturally into existing workflows and could be embedded into an electronic health record or a simple web form. Instead of manually calculating risk scores, a clinician could enter a few fields and immediately see a risk estimate plus a Low/High flag, supporting earlier monitoring and prevention for the most vulnerable patients.</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7896"/>
        </a:solidFill>
        <a:effectLst/>
      </p:bgPr>
    </p:bg>
    <p:spTree>
      <p:nvGrpSpPr>
        <p:cNvPr id="1" name=""/>
        <p:cNvGrpSpPr/>
        <p:nvPr/>
      </p:nvGrpSpPr>
      <p:grpSpPr>
        <a:xfrm>
          <a:off x="0" y="0"/>
          <a:ext cx="0" cy="0"/>
          <a:chOff x="0" y="0"/>
          <a:chExt cx="0" cy="0"/>
        </a:xfrm>
      </p:grpSpPr>
      <p:sp>
        <p:nvSpPr>
          <p:cNvPr id="2" name="Freeform 2"/>
          <p:cNvSpPr/>
          <p:nvPr/>
        </p:nvSpPr>
        <p:spPr>
          <a:xfrm>
            <a:off x="16070263" y="8060757"/>
            <a:ext cx="1550987" cy="1559493"/>
          </a:xfrm>
          <a:custGeom>
            <a:avLst/>
            <a:gdLst/>
            <a:ahLst/>
            <a:cxnLst/>
            <a:rect l="l" t="t" r="r" b="b"/>
            <a:pathLst>
              <a:path w="1550987" h="1559493">
                <a:moveTo>
                  <a:pt x="0" y="0"/>
                </a:moveTo>
                <a:lnTo>
                  <a:pt x="1550987" y="0"/>
                </a:lnTo>
                <a:lnTo>
                  <a:pt x="1550987" y="1559493"/>
                </a:lnTo>
                <a:lnTo>
                  <a:pt x="0" y="155949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4019156" y="8060757"/>
            <a:ext cx="1775820" cy="1559493"/>
          </a:xfrm>
          <a:custGeom>
            <a:avLst/>
            <a:gdLst/>
            <a:ahLst/>
            <a:cxnLst/>
            <a:rect l="l" t="t" r="r" b="b"/>
            <a:pathLst>
              <a:path w="1775820" h="1559493">
                <a:moveTo>
                  <a:pt x="0" y="0"/>
                </a:moveTo>
                <a:lnTo>
                  <a:pt x="1775820" y="0"/>
                </a:lnTo>
                <a:lnTo>
                  <a:pt x="1775820" y="1559493"/>
                </a:lnTo>
                <a:lnTo>
                  <a:pt x="0" y="155949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666750" y="666750"/>
            <a:ext cx="11941711" cy="2867025"/>
            <a:chOff x="0" y="0"/>
            <a:chExt cx="15922281" cy="3822700"/>
          </a:xfrm>
        </p:grpSpPr>
        <p:sp>
          <p:nvSpPr>
            <p:cNvPr id="5" name="TextBox 5"/>
            <p:cNvSpPr txBox="1"/>
            <p:nvPr/>
          </p:nvSpPr>
          <p:spPr>
            <a:xfrm>
              <a:off x="0" y="171450"/>
              <a:ext cx="15922281" cy="1551516"/>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Limitations &amp; Ethics</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6" name="TextBox 6"/>
            <p:cNvSpPr txBox="1"/>
            <p:nvPr/>
          </p:nvSpPr>
          <p:spPr>
            <a:xfrm>
              <a:off x="0" y="3360420"/>
              <a:ext cx="13423900" cy="462280"/>
            </a:xfrm>
            <a:prstGeom prst="rect">
              <a:avLst/>
            </a:prstGeom>
          </p:spPr>
          <p:txBody>
            <a:bodyPr lIns="0" tIns="0" rIns="0" bIns="0" rtlCol="0" anchor="t">
              <a:spAutoFit/>
            </a:bodyPr>
            <a:lstStyle/>
            <a:p>
              <a:pPr marL="0" lvl="0" indent="0" algn="l">
                <a:lnSpc>
                  <a:spcPts val="2940"/>
                </a:lnSpc>
                <a:spcBef>
                  <a:spcPct val="0"/>
                </a:spcBef>
              </a:pPr>
            </a:p>
          </p:txBody>
        </p:sp>
      </p:grpSp>
      <p:sp>
        <p:nvSpPr>
          <p:cNvPr id="7" name="TextBox 7"/>
          <p:cNvSpPr txBox="1"/>
          <p:nvPr/>
        </p:nvSpPr>
        <p:spPr>
          <a:xfrm>
            <a:off x="666750" y="2704465"/>
            <a:ext cx="16954500" cy="2318385"/>
          </a:xfrm>
          <a:prstGeom prst="rect">
            <a:avLst/>
          </a:prstGeom>
        </p:spPr>
        <p:txBody>
          <a:bodyPr lIns="0" tIns="0" rIns="0" bIns="0" rtlCol="0" anchor="t">
            <a:spAutoFit/>
          </a:bodyPr>
          <a:lstStyle/>
          <a:p>
            <a:pPr algn="just">
              <a:lnSpc>
                <a:spcPts val="2500"/>
              </a:lnSpc>
            </a:pPr>
            <a:r>
              <a:rPr lang="en-US" sz="2500">
                <a:solidFill>
                  <a:srgbClr val="E6F0F3"/>
                </a:solidFill>
                <a:latin typeface="Roca Two" panose="00000500000000000000"/>
                <a:ea typeface="Roca Two" panose="00000500000000000000"/>
                <a:cs typeface="Roca Two" panose="00000500000000000000"/>
                <a:sym typeface="Roca Two" panose="00000500000000000000"/>
              </a:rPr>
              <a:t>Study Limitations</a:t>
            </a:r>
            <a:endParaRPr lang="en-US" sz="2500">
              <a:solidFill>
                <a:srgbClr val="E6F0F3"/>
              </a:solidFill>
              <a:latin typeface="Roca Two" panose="00000500000000000000"/>
              <a:ea typeface="Roca Two" panose="00000500000000000000"/>
              <a:cs typeface="Roca Two" panose="00000500000000000000"/>
              <a:sym typeface="Roca Two" panose="00000500000000000000"/>
            </a:endParaRPr>
          </a:p>
          <a:p>
            <a:pPr algn="just">
              <a:lnSpc>
                <a:spcPts val="2300"/>
              </a:lnSpc>
            </a:pPr>
          </a:p>
          <a:p>
            <a:pPr algn="just">
              <a:lnSpc>
                <a:spcPts val="2300"/>
              </a:lnSpc>
              <a:spcBef>
                <a:spcPct val="0"/>
              </a:spcBef>
            </a:pPr>
            <a:r>
              <a:rPr lang="en-US" sz="2300">
                <a:solidFill>
                  <a:srgbClr val="E6F0F3"/>
                </a:solidFill>
                <a:latin typeface="Roca Two" panose="00000500000000000000"/>
                <a:ea typeface="Roca Two" panose="00000500000000000000"/>
                <a:cs typeface="Roca Two" panose="00000500000000000000"/>
                <a:sym typeface="Roca Two" panose="00000500000000000000"/>
              </a:rPr>
              <a:t>This project is based on a single anonymized delirium dataset with a relatively small number of elderly surgical patients, so the model may not generalize to other hospitals, specialties, or age groups. The outcome labels depend on how delirium was diagnosed and documented in the original study, which means some mild or atypical cases could be missed. Not all clinically relevant variables are available—factors such as medications, baseline cognitive status, environmental noise, or sleep quality are not captured in the features I used. Because of these constraints, the reported ROC AUC values and cluster patterns should be viewed as exploratory findings rather than final performance numbers.</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p:txBody>
      </p:sp>
      <p:sp>
        <p:nvSpPr>
          <p:cNvPr id="8" name="TextBox 8"/>
          <p:cNvSpPr txBox="1"/>
          <p:nvPr/>
        </p:nvSpPr>
        <p:spPr>
          <a:xfrm>
            <a:off x="666750" y="5569619"/>
            <a:ext cx="16954500" cy="2318385"/>
          </a:xfrm>
          <a:prstGeom prst="rect">
            <a:avLst/>
          </a:prstGeom>
        </p:spPr>
        <p:txBody>
          <a:bodyPr lIns="0" tIns="0" rIns="0" bIns="0" rtlCol="0" anchor="t">
            <a:spAutoFit/>
          </a:bodyPr>
          <a:lstStyle/>
          <a:p>
            <a:pPr algn="just">
              <a:lnSpc>
                <a:spcPts val="2500"/>
              </a:lnSpc>
              <a:spcBef>
                <a:spcPct val="0"/>
              </a:spcBef>
            </a:pPr>
            <a:r>
              <a:rPr lang="en-US" sz="2500">
                <a:solidFill>
                  <a:srgbClr val="E6F0F3"/>
                </a:solidFill>
                <a:latin typeface="Roca Two" panose="00000500000000000000"/>
                <a:ea typeface="Roca Two" panose="00000500000000000000"/>
                <a:cs typeface="Roca Two" panose="00000500000000000000"/>
                <a:sym typeface="Roca Two" panose="00000500000000000000"/>
              </a:rPr>
              <a:t>Ethical &amp; Resp</a:t>
            </a:r>
            <a:r>
              <a:rPr lang="en-US" sz="2500">
                <a:solidFill>
                  <a:srgbClr val="E6F0F3"/>
                </a:solidFill>
                <a:latin typeface="Roca Two" panose="00000500000000000000"/>
                <a:ea typeface="Roca Two" panose="00000500000000000000"/>
                <a:cs typeface="Roca Two" panose="00000500000000000000"/>
                <a:sym typeface="Roca Two" panose="00000500000000000000"/>
              </a:rPr>
              <a:t>onsible Use</a:t>
            </a:r>
            <a:endParaRPr lang="en-US" sz="2500">
              <a:solidFill>
                <a:srgbClr val="E6F0F3"/>
              </a:solidFill>
              <a:latin typeface="Roca Two" panose="00000500000000000000"/>
              <a:ea typeface="Roca Two" panose="00000500000000000000"/>
              <a:cs typeface="Roca Two" panose="00000500000000000000"/>
              <a:sym typeface="Roca Two" panose="00000500000000000000"/>
            </a:endParaRPr>
          </a:p>
          <a:p>
            <a:pPr algn="just">
              <a:lnSpc>
                <a:spcPts val="2300"/>
              </a:lnSpc>
              <a:spcBef>
                <a:spcPct val="0"/>
              </a:spcBef>
            </a:pPr>
          </a:p>
          <a:p>
            <a:pPr algn="just">
              <a:lnSpc>
                <a:spcPts val="2300"/>
              </a:lnSpc>
              <a:spcBef>
                <a:spcPct val="0"/>
              </a:spcBef>
            </a:pPr>
            <a:r>
              <a:rPr lang="en-US" sz="2300">
                <a:solidFill>
                  <a:srgbClr val="E6F0F3"/>
                </a:solidFill>
                <a:latin typeface="Roca Two" panose="00000500000000000000"/>
                <a:ea typeface="Roca Two" panose="00000500000000000000"/>
                <a:cs typeface="Roca Two" panose="00000500000000000000"/>
                <a:sym typeface="Roca Two" panose="00000500000000000000"/>
              </a:rPr>
              <a:t>The model developed here is strictly a research and educational prototype, not a clinical decision tool. It has not been prospectively validated, calibrated, or checked for bias across different demographic or clinical subgroups, so it should never be used to decide care for real patients. Any future deployment would require external validation on new cohorts, close collaboration with clinicians, formal approval from ethics and regulatory bodies, and continuous monitoring for bias and drift. The main purpose of this work is to show how machine learning could support delirium risk assessment, while keeping patient safety and responsible use at the center of the discussion.</a:t>
            </a:r>
            <a:endParaRPr lang="en-US" sz="2300">
              <a:solidFill>
                <a:srgbClr val="E6F0F3"/>
              </a:solidFill>
              <a:latin typeface="Roca Two" panose="00000500000000000000"/>
              <a:ea typeface="Roca Two" panose="00000500000000000000"/>
              <a:cs typeface="Roca Two" panose="00000500000000000000"/>
              <a:sym typeface="Roca Two"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6B2B2"/>
        </a:solidFill>
        <a:effectLst/>
      </p:bgPr>
    </p:bg>
    <p:spTree>
      <p:nvGrpSpPr>
        <p:cNvPr id="1" name=""/>
        <p:cNvGrpSpPr/>
        <p:nvPr/>
      </p:nvGrpSpPr>
      <p:grpSpPr>
        <a:xfrm>
          <a:off x="0" y="0"/>
          <a:ext cx="0" cy="0"/>
          <a:chOff x="0" y="0"/>
          <a:chExt cx="0" cy="0"/>
        </a:xfrm>
      </p:grpSpPr>
      <p:sp>
        <p:nvSpPr>
          <p:cNvPr id="2" name="AutoShape 2"/>
          <p:cNvSpPr/>
          <p:nvPr/>
        </p:nvSpPr>
        <p:spPr>
          <a:xfrm>
            <a:off x="9296400" y="666750"/>
            <a:ext cx="8324850" cy="0"/>
          </a:xfrm>
          <a:prstGeom prst="line">
            <a:avLst/>
          </a:prstGeom>
          <a:ln w="28575" cap="flat">
            <a:solidFill>
              <a:srgbClr val="E6F0F3"/>
            </a:solidFill>
            <a:prstDash val="solid"/>
            <a:headEnd type="none" w="sm" len="sm"/>
            <a:tailEnd type="none" w="sm" len="sm"/>
          </a:ln>
        </p:spPr>
      </p:sp>
      <p:sp>
        <p:nvSpPr>
          <p:cNvPr id="3" name="Freeform 3"/>
          <p:cNvSpPr/>
          <p:nvPr/>
        </p:nvSpPr>
        <p:spPr>
          <a:xfrm>
            <a:off x="666750" y="685800"/>
            <a:ext cx="2571750" cy="2585855"/>
          </a:xfrm>
          <a:custGeom>
            <a:avLst/>
            <a:gdLst/>
            <a:ahLst/>
            <a:cxnLst/>
            <a:rect l="l" t="t" r="r" b="b"/>
            <a:pathLst>
              <a:path w="2571750" h="2585855">
                <a:moveTo>
                  <a:pt x="0" y="0"/>
                </a:moveTo>
                <a:lnTo>
                  <a:pt x="2571750" y="0"/>
                </a:lnTo>
                <a:lnTo>
                  <a:pt x="2571750" y="2585855"/>
                </a:lnTo>
                <a:lnTo>
                  <a:pt x="0" y="258585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666750" y="8499476"/>
            <a:ext cx="16954500" cy="1120774"/>
          </a:xfrm>
          <a:prstGeom prst="rect">
            <a:avLst/>
          </a:prstGeom>
        </p:spPr>
        <p:txBody>
          <a:bodyPr lIns="0" tIns="0" rIns="0" bIns="0" rtlCol="0" anchor="t">
            <a:spAutoFit/>
          </a:bodyPr>
          <a:lstStyle/>
          <a:p>
            <a:pPr marL="0" lvl="0" indent="0" algn="l">
              <a:lnSpc>
                <a:spcPts val="8500"/>
              </a:lnSpc>
            </a:pPr>
            <a:r>
              <a:rPr lang="en-US" sz="8500">
                <a:solidFill>
                  <a:srgbClr val="E6F0F3"/>
                </a:solidFill>
                <a:latin typeface="Roca Two" panose="00000500000000000000"/>
                <a:ea typeface="Roca Two" panose="00000500000000000000"/>
                <a:cs typeface="Roca Two" panose="00000500000000000000"/>
                <a:sym typeface="Roca Two" panose="00000500000000000000"/>
              </a:rPr>
              <a:t>Future Directions for Research</a:t>
            </a:r>
            <a:endParaRPr lang="en-US" sz="8500">
              <a:solidFill>
                <a:srgbClr val="E6F0F3"/>
              </a:solidFill>
              <a:latin typeface="Roca Two" panose="00000500000000000000"/>
              <a:ea typeface="Roca Two" panose="00000500000000000000"/>
              <a:cs typeface="Roca Two" panose="00000500000000000000"/>
              <a:sym typeface="Roca Two" panose="00000500000000000000"/>
            </a:endParaRPr>
          </a:p>
        </p:txBody>
      </p:sp>
      <p:grpSp>
        <p:nvGrpSpPr>
          <p:cNvPr id="5" name="Group 5"/>
          <p:cNvGrpSpPr/>
          <p:nvPr/>
        </p:nvGrpSpPr>
        <p:grpSpPr>
          <a:xfrm rot="0">
            <a:off x="4940132" y="1013072"/>
            <a:ext cx="6148585" cy="5360741"/>
            <a:chOff x="0" y="0"/>
            <a:chExt cx="8198114" cy="7147655"/>
          </a:xfrm>
        </p:grpSpPr>
        <p:sp>
          <p:nvSpPr>
            <p:cNvPr id="6" name="TextBox 6"/>
            <p:cNvSpPr txBox="1"/>
            <p:nvPr/>
          </p:nvSpPr>
          <p:spPr>
            <a:xfrm>
              <a:off x="0" y="-38100"/>
              <a:ext cx="8198114" cy="493607"/>
            </a:xfrm>
            <a:prstGeom prst="rect">
              <a:avLst/>
            </a:prstGeom>
          </p:spPr>
          <p:txBody>
            <a:bodyPr lIns="0" tIns="0" rIns="0" bIns="0" rtlCol="0" anchor="t">
              <a:spAutoFit/>
            </a:bodyPr>
            <a:lstStyle/>
            <a:p>
              <a:pPr marL="0" lvl="0" indent="0" algn="l">
                <a:lnSpc>
                  <a:spcPts val="3220"/>
                </a:lnSpc>
                <a:spcBef>
                  <a:spcPct val="0"/>
                </a:spcBef>
              </a:pPr>
              <a:r>
                <a:rPr lang="en-US" sz="2300" b="1" spc="22">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rPr>
                <a:t>Model Calibration</a:t>
              </a:r>
              <a:endParaRPr lang="en-US" sz="2300" b="1" spc="22">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endParaRPr>
            </a:p>
          </p:txBody>
        </p:sp>
        <p:sp>
          <p:nvSpPr>
            <p:cNvPr id="7" name="TextBox 7"/>
            <p:cNvSpPr txBox="1"/>
            <p:nvPr/>
          </p:nvSpPr>
          <p:spPr>
            <a:xfrm>
              <a:off x="0" y="741774"/>
              <a:ext cx="8198114" cy="6405880"/>
            </a:xfrm>
            <a:prstGeom prst="rect">
              <a:avLst/>
            </a:prstGeom>
          </p:spPr>
          <p:txBody>
            <a:bodyPr lIns="0" tIns="0" rIns="0" bIns="0" rtlCol="0" anchor="t">
              <a:spAutoFit/>
            </a:bodyPr>
            <a:lstStyle/>
            <a:p>
              <a:pPr marL="0" lvl="0" indent="0" algn="just">
                <a:lnSpc>
                  <a:spcPts val="2940"/>
                </a:lnSpc>
                <a:spcBef>
                  <a:spcPct val="0"/>
                </a:spcBef>
              </a:pPr>
              <a:r>
                <a:rPr lang="en-US" sz="2100" spc="41">
                  <a:solidFill>
                    <a:srgbClr val="E6F0F3"/>
                  </a:solidFill>
                  <a:latin typeface="Roca Two" panose="00000500000000000000"/>
                  <a:ea typeface="Roca Two" panose="00000500000000000000"/>
                  <a:cs typeface="Roca Two" panose="00000500000000000000"/>
                  <a:sym typeface="Roca Two" panose="00000500000000000000"/>
                </a:rPr>
                <a:t>Future work will focus on checking how well the predicted probabilities match real-world delirium rates, not just how well the model ranks patients. This includes measuring calibration with tools like reliability plots and the Brier score, and applying methods such as Platt scaling or isotonic regression to correct any over- or under-confidence. A calibrated model would let clinicians say things like “a predicted risk of 0.30 really means about a 30% chance of delirium in similar patients,” which is much more actionable at the bedside.</a:t>
              </a:r>
              <a:endParaRPr lang="en-US" sz="2100" spc="41">
                <a:solidFill>
                  <a:srgbClr val="E6F0F3"/>
                </a:solidFill>
                <a:latin typeface="Roca Two" panose="00000500000000000000"/>
                <a:ea typeface="Roca Two" panose="00000500000000000000"/>
                <a:cs typeface="Roca Two" panose="00000500000000000000"/>
                <a:sym typeface="Roca Two" panose="00000500000000000000"/>
              </a:endParaRPr>
            </a:p>
            <a:p>
              <a:pPr marL="0" lvl="0" indent="0" algn="just">
                <a:lnSpc>
                  <a:spcPts val="2940"/>
                </a:lnSpc>
                <a:spcBef>
                  <a:spcPct val="0"/>
                </a:spcBef>
              </a:pPr>
            </a:p>
          </p:txBody>
        </p:sp>
      </p:grpSp>
      <p:grpSp>
        <p:nvGrpSpPr>
          <p:cNvPr id="8" name="Group 8"/>
          <p:cNvGrpSpPr/>
          <p:nvPr/>
        </p:nvGrpSpPr>
        <p:grpSpPr>
          <a:xfrm rot="0">
            <a:off x="11920744" y="1028700"/>
            <a:ext cx="6168952" cy="5732216"/>
            <a:chOff x="0" y="0"/>
            <a:chExt cx="8225270" cy="7642955"/>
          </a:xfrm>
        </p:grpSpPr>
        <p:sp>
          <p:nvSpPr>
            <p:cNvPr id="9" name="TextBox 9"/>
            <p:cNvSpPr txBox="1"/>
            <p:nvPr/>
          </p:nvSpPr>
          <p:spPr>
            <a:xfrm>
              <a:off x="0" y="-38100"/>
              <a:ext cx="8225270" cy="493607"/>
            </a:xfrm>
            <a:prstGeom prst="rect">
              <a:avLst/>
            </a:prstGeom>
          </p:spPr>
          <p:txBody>
            <a:bodyPr lIns="0" tIns="0" rIns="0" bIns="0" rtlCol="0" anchor="t">
              <a:spAutoFit/>
            </a:bodyPr>
            <a:lstStyle/>
            <a:p>
              <a:pPr marL="0" lvl="0" indent="0" algn="l">
                <a:lnSpc>
                  <a:spcPts val="3220"/>
                </a:lnSpc>
                <a:spcBef>
                  <a:spcPct val="0"/>
                </a:spcBef>
              </a:pPr>
              <a:r>
                <a:rPr lang="en-US" sz="2300" b="1" spc="22">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rPr>
                <a:t>User Interface</a:t>
              </a:r>
              <a:endParaRPr lang="en-US" sz="2300" b="1" spc="22">
                <a:solidFill>
                  <a:srgbClr val="E6F0F3"/>
                </a:solidFill>
                <a:latin typeface="Be Vietnam Ultra-Bold" panose="00000900000000000000"/>
                <a:ea typeface="Be Vietnam Ultra-Bold" panose="00000900000000000000"/>
                <a:cs typeface="Be Vietnam Ultra-Bold" panose="00000900000000000000"/>
                <a:sym typeface="Be Vietnam Ultra-Bold" panose="00000900000000000000"/>
              </a:endParaRPr>
            </a:p>
          </p:txBody>
        </p:sp>
        <p:sp>
          <p:nvSpPr>
            <p:cNvPr id="10" name="TextBox 10"/>
            <p:cNvSpPr txBox="1"/>
            <p:nvPr/>
          </p:nvSpPr>
          <p:spPr>
            <a:xfrm>
              <a:off x="0" y="741774"/>
              <a:ext cx="8225270" cy="6901180"/>
            </a:xfrm>
            <a:prstGeom prst="rect">
              <a:avLst/>
            </a:prstGeom>
          </p:spPr>
          <p:txBody>
            <a:bodyPr lIns="0" tIns="0" rIns="0" bIns="0" rtlCol="0" anchor="t">
              <a:spAutoFit/>
            </a:bodyPr>
            <a:lstStyle/>
            <a:p>
              <a:pPr marL="0" lvl="0" indent="0" algn="l">
                <a:lnSpc>
                  <a:spcPts val="2940"/>
                </a:lnSpc>
                <a:spcBef>
                  <a:spcPct val="0"/>
                </a:spcBef>
              </a:pPr>
              <a:r>
                <a:rPr lang="en-US" sz="2100" spc="41">
                  <a:solidFill>
                    <a:srgbClr val="E6F0F3"/>
                  </a:solidFill>
                  <a:latin typeface="Roca Two" panose="00000500000000000000"/>
                  <a:ea typeface="Roca Two" panose="00000500000000000000"/>
                  <a:cs typeface="Roca Two" panose="00000500000000000000"/>
                  <a:sym typeface="Roca Two" panose="00000500000000000000"/>
                </a:rPr>
                <a:t>A natural n</a:t>
              </a:r>
              <a:r>
                <a:rPr lang="en-US" sz="2100" spc="41">
                  <a:solidFill>
                    <a:srgbClr val="E6F0F3"/>
                  </a:solidFill>
                  <a:latin typeface="Roca Two" panose="00000500000000000000"/>
                  <a:ea typeface="Roca Two" panose="00000500000000000000"/>
                  <a:cs typeface="Roca Two" panose="00000500000000000000"/>
                  <a:sym typeface="Roca Two" panose="00000500000000000000"/>
                </a:rPr>
                <a:t>ext step is to wrap the model into a simple, user-friendly web app (for example using Streamlit or a lightweight dashboard) where clinicians can enter basic patient details and instantly see the risk estimate and a Low/High risk label. The interface could also display the top contributing factors for that specific patient (such as age, frailty score, or abnormal labs), making the prediction easier to interpret and discuss with the care team. In the long term, this interface could be embedded into an electronic health record system so the risk score is generated automatically during routine workflow.</a:t>
              </a:r>
              <a:endParaRPr lang="en-US" sz="2100" spc="41">
                <a:solidFill>
                  <a:srgbClr val="E6F0F3"/>
                </a:solidFill>
                <a:latin typeface="Roca Two" panose="00000500000000000000"/>
                <a:ea typeface="Roca Two" panose="00000500000000000000"/>
                <a:cs typeface="Roca Two" panose="00000500000000000000"/>
                <a:sym typeface="Roca Two" panose="0000050000000000000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37373"/>
        </a:solidFill>
        <a:effectLst/>
      </p:bgPr>
    </p:bg>
    <p:spTree>
      <p:nvGrpSpPr>
        <p:cNvPr id="1" name=""/>
        <p:cNvGrpSpPr/>
        <p:nvPr/>
      </p:nvGrpSpPr>
      <p:grpSpPr>
        <a:xfrm>
          <a:off x="0" y="0"/>
          <a:ext cx="0" cy="0"/>
          <a:chOff x="0" y="0"/>
          <a:chExt cx="0" cy="0"/>
        </a:xfrm>
      </p:grpSpPr>
      <p:sp>
        <p:nvSpPr>
          <p:cNvPr id="2" name="TextBox 2"/>
          <p:cNvSpPr txBox="1"/>
          <p:nvPr/>
        </p:nvSpPr>
        <p:spPr>
          <a:xfrm>
            <a:off x="6261259" y="782467"/>
            <a:ext cx="5765482" cy="1120774"/>
          </a:xfrm>
          <a:prstGeom prst="rect">
            <a:avLst/>
          </a:prstGeom>
        </p:spPr>
        <p:txBody>
          <a:bodyPr lIns="0" tIns="0" rIns="0" bIns="0" rtlCol="0" anchor="t">
            <a:spAutoFit/>
          </a:bodyPr>
          <a:lstStyle/>
          <a:p>
            <a:pPr algn="ctr">
              <a:lnSpc>
                <a:spcPts val="8500"/>
              </a:lnSpc>
              <a:spcBef>
                <a:spcPct val="0"/>
              </a:spcBef>
            </a:pPr>
            <a:r>
              <a:rPr lang="en-US" sz="8500">
                <a:solidFill>
                  <a:srgbClr val="000000"/>
                </a:solidFill>
                <a:latin typeface="Roca Two" panose="00000500000000000000"/>
                <a:ea typeface="Roca Two" panose="00000500000000000000"/>
                <a:cs typeface="Roca Two" panose="00000500000000000000"/>
                <a:sym typeface="Roca Two" panose="00000500000000000000"/>
              </a:rPr>
              <a:t>References </a:t>
            </a:r>
            <a:endParaRPr lang="en-US" sz="8500">
              <a:solidFill>
                <a:srgbClr val="000000"/>
              </a:solidFill>
              <a:latin typeface="Roca Two" panose="00000500000000000000"/>
              <a:ea typeface="Roca Two" panose="00000500000000000000"/>
              <a:cs typeface="Roca Two" panose="00000500000000000000"/>
              <a:sym typeface="Roca Two" panose="00000500000000000000"/>
            </a:endParaRPr>
          </a:p>
        </p:txBody>
      </p:sp>
      <p:sp>
        <p:nvSpPr>
          <p:cNvPr id="3" name="TextBox 3"/>
          <p:cNvSpPr txBox="1"/>
          <p:nvPr/>
        </p:nvSpPr>
        <p:spPr>
          <a:xfrm>
            <a:off x="2786955" y="2295091"/>
            <a:ext cx="12714089" cy="306070"/>
          </a:xfrm>
          <a:prstGeom prst="rect">
            <a:avLst/>
          </a:prstGeom>
        </p:spPr>
        <p:txBody>
          <a:bodyPr lIns="0" tIns="0" rIns="0" bIns="0" rtlCol="0" anchor="t">
            <a:spAutoFit/>
          </a:bodyPr>
          <a:lstStyle/>
          <a:p>
            <a:pPr algn="ctr">
              <a:lnSpc>
                <a:spcPts val="2300"/>
              </a:lnSpc>
              <a:spcBef>
                <a:spcPct val="0"/>
              </a:spcBef>
            </a:pPr>
            <a:r>
              <a:rPr lang="en-US" sz="2300">
                <a:solidFill>
                  <a:srgbClr val="000000"/>
                </a:solidFill>
                <a:latin typeface="Roca Two" panose="00000500000000000000"/>
                <a:ea typeface="Roca Two" panose="00000500000000000000"/>
                <a:cs typeface="Roca Two" panose="00000500000000000000"/>
                <a:sym typeface="Roca Two" panose="00000500000000000000"/>
              </a:rPr>
              <a:t>Zha</a:t>
            </a:r>
            <a:r>
              <a:rPr lang="en-US" sz="2300">
                <a:solidFill>
                  <a:srgbClr val="000000"/>
                </a:solidFill>
                <a:latin typeface="Roca Two" panose="00000500000000000000"/>
                <a:ea typeface="Roca Two" panose="00000500000000000000"/>
                <a:cs typeface="Roca Two" panose="00000500000000000000"/>
                <a:sym typeface="Roca Two" panose="00000500000000000000"/>
              </a:rPr>
              <a:t>o, Hong (2022), “Machine learning delirium ”, Mendeley Data, V1, doi: 10.17632/5sbrfcg5r7.1</a:t>
            </a:r>
            <a:endParaRPr lang="en-US" sz="2300">
              <a:solidFill>
                <a:srgbClr val="000000"/>
              </a:solidFill>
              <a:latin typeface="Roca Two" panose="00000500000000000000"/>
              <a:ea typeface="Roca Two" panose="00000500000000000000"/>
              <a:cs typeface="Roca Two" panose="00000500000000000000"/>
              <a:sym typeface="Roca Two" panose="000005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6B2B2"/>
        </a:solidFill>
        <a:effectLst/>
      </p:bgPr>
    </p:bg>
    <p:spTree>
      <p:nvGrpSpPr>
        <p:cNvPr id="1" name=""/>
        <p:cNvGrpSpPr/>
        <p:nvPr/>
      </p:nvGrpSpPr>
      <p:grpSpPr>
        <a:xfrm>
          <a:off x="0" y="0"/>
          <a:ext cx="0" cy="0"/>
          <a:chOff x="0" y="0"/>
          <a:chExt cx="0" cy="0"/>
        </a:xfrm>
      </p:grpSpPr>
      <p:grpSp>
        <p:nvGrpSpPr>
          <p:cNvPr id="2" name="Group 2"/>
          <p:cNvGrpSpPr/>
          <p:nvPr/>
        </p:nvGrpSpPr>
        <p:grpSpPr>
          <a:xfrm rot="0">
            <a:off x="2688071" y="2559938"/>
            <a:ext cx="18840170" cy="3926229"/>
            <a:chOff x="0" y="0"/>
            <a:chExt cx="25120227" cy="5234972"/>
          </a:xfrm>
        </p:grpSpPr>
        <p:sp>
          <p:nvSpPr>
            <p:cNvPr id="3" name="TextBox 3"/>
            <p:cNvSpPr txBox="1"/>
            <p:nvPr/>
          </p:nvSpPr>
          <p:spPr>
            <a:xfrm>
              <a:off x="0" y="847725"/>
              <a:ext cx="17215811" cy="4387247"/>
            </a:xfrm>
            <a:prstGeom prst="rect">
              <a:avLst/>
            </a:prstGeom>
          </p:spPr>
          <p:txBody>
            <a:bodyPr lIns="0" tIns="0" rIns="0" bIns="0" rtlCol="0" anchor="t">
              <a:spAutoFit/>
            </a:bodyPr>
            <a:lstStyle/>
            <a:p>
              <a:pPr algn="l">
                <a:lnSpc>
                  <a:spcPts val="19375"/>
                </a:lnSpc>
              </a:pPr>
              <a:r>
                <a:rPr lang="en-US" sz="25830" spc="-1291">
                  <a:solidFill>
                    <a:srgbClr val="A9BB9D"/>
                  </a:solidFill>
                  <a:latin typeface="SK Concretica"/>
                  <a:ea typeface="SK Concretica"/>
                  <a:cs typeface="SK Concretica"/>
                  <a:sym typeface="SK Concretica"/>
                </a:rPr>
                <a:t>Thank</a:t>
              </a:r>
              <a:endParaRPr lang="en-US" sz="25830" spc="-1291">
                <a:solidFill>
                  <a:srgbClr val="A9BB9D"/>
                </a:solidFill>
                <a:latin typeface="SK Concretica"/>
                <a:ea typeface="SK Concretica"/>
                <a:cs typeface="SK Concretica"/>
                <a:sym typeface="SK Concretica"/>
              </a:endParaRPr>
            </a:p>
          </p:txBody>
        </p:sp>
        <p:sp>
          <p:nvSpPr>
            <p:cNvPr id="4" name="TextBox 4"/>
            <p:cNvSpPr txBox="1"/>
            <p:nvPr/>
          </p:nvSpPr>
          <p:spPr>
            <a:xfrm>
              <a:off x="10891985" y="1402281"/>
              <a:ext cx="14228242" cy="3163836"/>
            </a:xfrm>
            <a:prstGeom prst="rect">
              <a:avLst/>
            </a:prstGeom>
          </p:spPr>
          <p:txBody>
            <a:bodyPr lIns="0" tIns="0" rIns="0" bIns="0" rtlCol="0" anchor="t">
              <a:spAutoFit/>
            </a:bodyPr>
            <a:lstStyle/>
            <a:p>
              <a:pPr algn="l">
                <a:lnSpc>
                  <a:spcPts val="15410"/>
                </a:lnSpc>
              </a:pPr>
              <a:r>
                <a:rPr lang="en-US" sz="19260" i="1" spc="-963">
                  <a:solidFill>
                    <a:srgbClr val="000000"/>
                  </a:solidFill>
                  <a:latin typeface="Kitsch Display Italics" panose="00000500000000000000"/>
                  <a:ea typeface="Kitsch Display Italics" panose="00000500000000000000"/>
                  <a:cs typeface="Kitsch Display Italics" panose="00000500000000000000"/>
                  <a:sym typeface="Kitsch Display Italics" panose="00000500000000000000"/>
                </a:rPr>
                <a:t>You</a:t>
              </a:r>
              <a:endParaRPr lang="en-US" sz="19260" i="1" spc="-963">
                <a:solidFill>
                  <a:srgbClr val="000000"/>
                </a:solidFill>
                <a:latin typeface="Kitsch Display Italics" panose="00000500000000000000"/>
                <a:ea typeface="Kitsch Display Italics" panose="00000500000000000000"/>
                <a:cs typeface="Kitsch Display Italics" panose="00000500000000000000"/>
                <a:sym typeface="Kitsch Display Italics" panose="00000500000000000000"/>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12150</Words>
  <Application>WPS Presentation</Application>
  <PresentationFormat>On-screen Show (4:3)</PresentationFormat>
  <Paragraphs>135</Paragraphs>
  <Slides>15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SimSun</vt:lpstr>
      <vt:lpstr>Wingdings</vt:lpstr>
      <vt:lpstr>Libra Sans Italics</vt:lpstr>
      <vt:lpstr>Roca Two Bold</vt:lpstr>
      <vt:lpstr>Arial</vt:lpstr>
      <vt:lpstr>Roca Two</vt:lpstr>
      <vt:lpstr>Be Vietnam Ultra-Bold</vt:lpstr>
      <vt:lpstr>Be Vietnam</vt:lpstr>
      <vt:lpstr>SK Concretica</vt:lpstr>
      <vt:lpstr>Kitsch Display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Post-Operative Delirium</dc:title>
  <dc:creator/>
  <dc:description>Presentation - Post-Operative Delirium</dc:description>
  <cp:lastModifiedBy>WPS_1691522074</cp:lastModifiedBy>
  <cp:revision>2</cp:revision>
  <dcterms:created xsi:type="dcterms:W3CDTF">2006-08-16T00:00:00Z</dcterms:created>
  <dcterms:modified xsi:type="dcterms:W3CDTF">2025-12-04T05:05:53Z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CA92DD536517465F940B7AA28E8E8045_12</vt:lpwstr>
  </property>
  <property fmtid="{D5CDD505-2E9C-101B-9397-08002B2CF9AE}" pid="3" name="KSOProductBuildVer">
    <vt:lpwstr>2057-12.2.0.23149</vt:lpwstr>
  </property>
</Properties>
</file>